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jm3dQJ5f23UPBUs7Qbrxltr8mu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40FA13-6E29-4F10-8A24-E8F5089130A5}">
  <a:tblStyle styleId="{DA40FA13-6E29-4F10-8A24-E8F5089130A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/>
              <a:t>Emulación de un sistema AFDX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End System Transmisor</a:t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2227725" y="1385850"/>
            <a:ext cx="4559100" cy="32379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System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2460850" y="2305425"/>
            <a:ext cx="1670700" cy="1424700"/>
          </a:xfrm>
          <a:prstGeom prst="rect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PARTITION 1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2565975" y="2658150"/>
            <a:ext cx="659100" cy="572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UDP1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3325600" y="2658150"/>
            <a:ext cx="659100" cy="5727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UDP2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311700" y="1385850"/>
            <a:ext cx="1606200" cy="492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puerto UDP está asociado con UN VL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2565975" y="3367475"/>
            <a:ext cx="1418700" cy="2721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source address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311700" y="2079450"/>
            <a:ext cx="1606200" cy="492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partición tiene su dirección IP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2486750" y="4015075"/>
            <a:ext cx="4041000" cy="4014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SOURCE MAC ADDRESS (A or B)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857050" y="2305425"/>
            <a:ext cx="1670700" cy="1424700"/>
          </a:xfrm>
          <a:prstGeom prst="rect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PARTITION N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70;p2"/>
          <p:cNvCxnSpPr>
            <a:endCxn id="69" idx="1"/>
          </p:cNvCxnSpPr>
          <p:nvPr/>
        </p:nvCxnSpPr>
        <p:spPr>
          <a:xfrm>
            <a:off x="4131650" y="3017775"/>
            <a:ext cx="725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End System Receptor</a:t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311700" y="1385850"/>
            <a:ext cx="6475200" cy="32379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System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79150" y="2658150"/>
            <a:ext cx="3056700" cy="1424700"/>
          </a:xfrm>
          <a:prstGeom prst="rect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PARTITION 1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900900" y="3294300"/>
            <a:ext cx="659100" cy="5727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UDP1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472000" y="3294300"/>
            <a:ext cx="659100" cy="5727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UDP2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21100" y="3017775"/>
            <a:ext cx="1418700" cy="2721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dest addr VLx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79150" y="1817050"/>
            <a:ext cx="2629200" cy="4014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DEST MAC ADDRESS (VLx)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463950" y="2658150"/>
            <a:ext cx="1670700" cy="1424700"/>
          </a:xfrm>
          <a:prstGeom prst="rect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PARTITION N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3"/>
          <p:cNvCxnSpPr>
            <a:stCxn id="77" idx="3"/>
            <a:endCxn id="82" idx="1"/>
          </p:cNvCxnSpPr>
          <p:nvPr/>
        </p:nvCxnSpPr>
        <p:spPr>
          <a:xfrm>
            <a:off x="3535850" y="3370500"/>
            <a:ext cx="928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4" name="Google Shape;84;p3"/>
          <p:cNvSpPr/>
          <p:nvPr/>
        </p:nvSpPr>
        <p:spPr>
          <a:xfrm>
            <a:off x="3984700" y="1817050"/>
            <a:ext cx="2629200" cy="4014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DEST MAC ADDRESS (VLy)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092200" y="3017775"/>
            <a:ext cx="1418700" cy="2721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dest addr VLy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589950" y="3017775"/>
            <a:ext cx="1418700" cy="2721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dest addr VLy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969750" y="3370500"/>
            <a:ext cx="659100" cy="5727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UDP2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072575" y="1385850"/>
            <a:ext cx="1606200" cy="4923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direcciones MAC e IP destino son Multicast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Direccionamiento MAC - Destination Address</a:t>
            </a:r>
            <a:endParaRPr/>
          </a:p>
        </p:txBody>
      </p:sp>
      <p:sp>
        <p:nvSpPr>
          <p:cNvPr id="94" name="Google Shape;94;p4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 VL está identificado de modo único por la dirección MAC destino</a:t>
            </a:r>
            <a:endParaRPr/>
          </a:p>
        </p:txBody>
      </p:sp>
      <p:graphicFrame>
        <p:nvGraphicFramePr>
          <p:cNvPr id="95" name="Google Shape;95;p4"/>
          <p:cNvGraphicFramePr/>
          <p:nvPr/>
        </p:nvGraphicFramePr>
        <p:xfrm>
          <a:off x="952500" y="185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{DA40FA13-6E29-4F10-8A24-E8F5089130A5}</a:tableStyleId>
              </a:tblPr>
              <a:tblGrid>
                <a:gridCol w="3619500"/>
                <a:gridCol w="3619500"/>
              </a:tblGrid>
              <a:tr h="3810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48 bits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Campo constante [32 bits]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Identificador de VL [16 bits]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xxxx xx11 xxxx xxxx xxxx xxxx xxxx xxxx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xxxx xxxx xxxx xxxx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6" name="Google Shape;96;p4"/>
          <p:cNvSpPr txBox="1"/>
          <p:nvPr>
            <p:ph idx="1" type="body"/>
          </p:nvPr>
        </p:nvSpPr>
        <p:spPr>
          <a:xfrm>
            <a:off x="311700" y="3352775"/>
            <a:ext cx="8520600" cy="14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integrador de sistemas establece ambos campos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campo constante debe ser el mismo para todos los ES de una misma red AFDX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xx[1 group address][1 locally administered]</a:t>
            </a:r>
            <a:endParaRPr/>
          </a:p>
        </p:txBody>
      </p:sp>
      <p:sp>
        <p:nvSpPr>
          <p:cNvPr id="97" name="Google Shape;97;p4"/>
          <p:cNvSpPr txBox="1"/>
          <p:nvPr/>
        </p:nvSpPr>
        <p:spPr>
          <a:xfrm>
            <a:off x="5167775" y="4203875"/>
            <a:ext cx="33285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OJO: en Linux no se puede forzar el bit de locally administered a 1 =&gt; 0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Direccionamiento MAC - Source Address</a:t>
            </a:r>
            <a:endParaRPr/>
          </a:p>
        </p:txBody>
      </p:sp>
      <p:sp>
        <p:nvSpPr>
          <p:cNvPr id="103" name="Google Shape;103;p5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dirección MAC debe ser </a:t>
            </a:r>
            <a:r>
              <a:rPr i="1" lang="es"/>
              <a:t>Individual</a:t>
            </a:r>
            <a:r>
              <a:rPr lang="es"/>
              <a:t> y </a:t>
            </a:r>
            <a:r>
              <a:rPr i="1" lang="es"/>
              <a:t>Localmente administrada</a:t>
            </a:r>
            <a:endParaRPr i="1"/>
          </a:p>
        </p:txBody>
      </p:sp>
      <p:graphicFrame>
        <p:nvGraphicFramePr>
          <p:cNvPr id="104" name="Google Shape;104;p5"/>
          <p:cNvGraphicFramePr/>
          <p:nvPr/>
        </p:nvGraphicFramePr>
        <p:xfrm>
          <a:off x="952500" y="185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{DA40FA13-6E29-4F10-8A24-E8F5089130A5}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48 bits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Campo constante [24 bits]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User_Defined_ID [16 bits]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Interface_ID [3 bits]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Constant field [5 bits]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02 00 00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XX XX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xxx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0 0000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5" name="Google Shape;105;p5"/>
          <p:cNvSpPr txBox="1"/>
          <p:nvPr>
            <p:ph idx="1" type="body"/>
          </p:nvPr>
        </p:nvSpPr>
        <p:spPr>
          <a:xfrm>
            <a:off x="311700" y="3352775"/>
            <a:ext cx="8520600" cy="14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Campo constante 02: 0000 001[locally administered]0[individual] 00 00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campo User_Defined_ID se establecerá en función del direccionamiento IP decidido por el integrador de sistemas.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Direccionamiento MAC - Source Address</a:t>
            </a:r>
            <a:endParaRPr/>
          </a:p>
        </p:txBody>
      </p:sp>
      <p:sp>
        <p:nvSpPr>
          <p:cNvPr id="111" name="Google Shape;111;p6"/>
          <p:cNvSpPr txBox="1"/>
          <p:nvPr>
            <p:ph idx="1" type="body"/>
          </p:nvPr>
        </p:nvSpPr>
        <p:spPr>
          <a:xfrm>
            <a:off x="311700" y="1152475"/>
            <a:ext cx="8520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campo Interface_ID indica a cuál de las dos redes redundantes AFDX está conectada la interfaz</a:t>
            </a:r>
            <a:endParaRPr i="1"/>
          </a:p>
        </p:txBody>
      </p:sp>
      <p:graphicFrame>
        <p:nvGraphicFramePr>
          <p:cNvPr id="112" name="Google Shape;112;p6"/>
          <p:cNvGraphicFramePr/>
          <p:nvPr/>
        </p:nvGraphicFramePr>
        <p:xfrm>
          <a:off x="952500" y="1929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{DA40FA13-6E29-4F10-8A24-E8F5089130A5}</a:tableStyleId>
              </a:tblPr>
              <a:tblGrid>
                <a:gridCol w="1184550"/>
                <a:gridCol w="6054450"/>
              </a:tblGrid>
              <a:tr h="86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Interface_ID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Significado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</a:tr>
              <a:tr h="86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000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No se utiliza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86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001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La interfaz está conectada a la red A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</a:tr>
              <a:tr h="86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010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1000" u="none" cap="none" strike="noStrike">
                          <a:solidFill>
                            <a:schemeClr val="dk1"/>
                          </a:solidFill>
                        </a:rPr>
                        <a:t>La interfaz está conectada a la red B</a:t>
                      </a:r>
                      <a:endParaRPr b="1" sz="1000" u="none" cap="none" strike="noStrike"/>
                    </a:p>
                  </a:txBody>
                  <a:tcPr marT="91425" marB="91425" marR="91425" marL="91425"/>
                </a:tc>
              </a:tr>
              <a:tr h="86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011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cap="none" strike="noStrike">
                          <a:solidFill>
                            <a:schemeClr val="dk1"/>
                          </a:solidFill>
                        </a:rPr>
                        <a:t>No se utiliza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86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100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cap="none" strike="noStrike">
                          <a:solidFill>
                            <a:schemeClr val="dk1"/>
                          </a:solidFill>
                        </a:rPr>
                        <a:t>No se utiliza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86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101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cap="none" strike="noStrike">
                          <a:solidFill>
                            <a:schemeClr val="dk1"/>
                          </a:solidFill>
                        </a:rPr>
                        <a:t>No se utiliza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86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110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cap="none" strike="noStrike">
                          <a:solidFill>
                            <a:schemeClr val="dk1"/>
                          </a:solidFill>
                        </a:rPr>
                        <a:t>No se utiliza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86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111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cap="none" strike="noStrike">
                          <a:solidFill>
                            <a:schemeClr val="dk1"/>
                          </a:solidFill>
                        </a:rPr>
                        <a:t>No se utiliza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Direccionamiento IP - Source Address</a:t>
            </a:r>
            <a:endParaRPr/>
          </a:p>
        </p:txBody>
      </p:sp>
      <p:sp>
        <p:nvSpPr>
          <p:cNvPr id="118" name="Google Shape;118;p7"/>
          <p:cNvSpPr txBox="1"/>
          <p:nvPr>
            <p:ph idx="1" type="body"/>
          </p:nvPr>
        </p:nvSpPr>
        <p:spPr>
          <a:xfrm>
            <a:off x="311700" y="1152475"/>
            <a:ext cx="8520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dirección IP identifica la partición transmisora asociada con el 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Tiene que ser clase A y privada unicast =&gt; </a:t>
            </a:r>
            <a:r>
              <a:rPr b="1" lang="es"/>
              <a:t>0</a:t>
            </a:r>
            <a:r>
              <a:rPr lang="es"/>
              <a:t>000 1010 -- 10.0.0.0/8</a:t>
            </a:r>
            <a:endParaRPr/>
          </a:p>
        </p:txBody>
      </p:sp>
      <p:graphicFrame>
        <p:nvGraphicFramePr>
          <p:cNvPr id="119" name="Google Shape;119;p7"/>
          <p:cNvGraphicFramePr/>
          <p:nvPr/>
        </p:nvGraphicFramePr>
        <p:xfrm>
          <a:off x="952500" y="210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{DA40FA13-6E29-4F10-8A24-E8F5089130A5}</a:tableStyleId>
              </a:tblPr>
              <a:tblGrid>
                <a:gridCol w="1447800"/>
                <a:gridCol w="618875"/>
                <a:gridCol w="2276725"/>
                <a:gridCol w="1447800"/>
                <a:gridCol w="1447800"/>
              </a:tblGrid>
              <a:tr h="381000"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IP Unicast Addressing Format [32 bits]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</a:tr>
              <a:tr h="381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Class A &amp; Private IP address [8 bits]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User_Defined_ID [16 bits]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Partition ID [8 bits]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</a:tr>
              <a:tr h="381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0000 1010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nnnn nnnn nnnn nnnn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Spare field [3]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[5]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311700" y="3686025"/>
            <a:ext cx="8520600" cy="12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User_Defined_ID: elegido tal que todas las direcciones IP sean únicas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Partition_ID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Spare field = 000 (a menos que en un sistema haya más de 32 particiones)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Los últimos 5 bits identifican la partición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Direccionamiento IP - Destination Address</a:t>
            </a:r>
            <a:endParaRPr/>
          </a:p>
        </p:txBody>
      </p:sp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311700" y="1152475"/>
            <a:ext cx="85206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 dirección IP destino puede ser: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La dirección IP unicast del destino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Una dirección IP multicast del prefijo 224.224.0.0/16</a:t>
            </a:r>
            <a:endParaRPr/>
          </a:p>
        </p:txBody>
      </p:sp>
      <p:graphicFrame>
        <p:nvGraphicFramePr>
          <p:cNvPr id="127" name="Google Shape;127;p8"/>
          <p:cNvGraphicFramePr/>
          <p:nvPr/>
        </p:nvGraphicFramePr>
        <p:xfrm>
          <a:off x="952500" y="225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{DA40FA13-6E29-4F10-8A24-E8F5089130A5}</a:tableStyleId>
              </a:tblPr>
              <a:tblGrid>
                <a:gridCol w="1101400"/>
                <a:gridCol w="470800"/>
                <a:gridCol w="2496175"/>
                <a:gridCol w="967825"/>
                <a:gridCol w="1101400"/>
                <a:gridCol w="1101400"/>
              </a:tblGrid>
              <a:tr h="381000"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/>
                        <a:t>IP Multicast Addressing Format [32 bits]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  <a:tc hMerge="1"/>
              </a:tr>
              <a:tr h="381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[4 bits]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[28 bits]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  <a:tr h="381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1110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IP Multicast Identifier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  <a:tr h="381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Constante [12 bits]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Virtual Link Identifier [16 bits]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hMerge="1"/>
              </a:tr>
              <a:tr h="381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0000 1110 0000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xxxx xxxx xxxx xxxx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
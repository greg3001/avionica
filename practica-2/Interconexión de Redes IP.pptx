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652CA5-D815-42F2-AC9B-92871D9323E6}">
  <a:tblStyle styleId="{A5652CA5-D815-42F2-AC9B-92871D9323E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Interconexión de Redes IP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Cálculo de la dirección de red y de broadcast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Configurar IP → Dirección IP y Máscara (longitud del prefijo, L)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Dirección IP &amp; Mascara → Dirección de red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Dirección de red | todos los bits de host a 1 (última del prefijo) → Dirección de broadcast 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1158225" y="2279025"/>
            <a:ext cx="716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IP: 192.168.1.101/24 ⇔192.168.1.101 máscara 255.255.255.0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377125" y="2857925"/>
            <a:ext cx="3442200" cy="5727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de red → 192.168.1.0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de broadcast → 192.168.1.255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Cálculo de la dirección de red y de broadcast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Configurar IP → Dirección IP y Máscara (longitud del prefijo, L)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Dirección IP &amp; Mascara → Dirección de red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Dirección de red | todos los bits de host a 1 (última del prefijo) → Dirección de broadcast 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1081250" y="2319150"/>
            <a:ext cx="6110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IP: 192.168.1.101/27 ⇔192.168.1.101 máscara 255.255.255.224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972050" y="3787625"/>
            <a:ext cx="3442200" cy="5727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de red → 192.168.1.96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de broadcast → 192.168.1.127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617250" y="2986950"/>
            <a:ext cx="2663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11100000 → 128+64+32 = 224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5"/>
          <p:cNvCxnSpPr>
            <a:stCxn id="74" idx="0"/>
          </p:cNvCxnSpPr>
          <p:nvPr/>
        </p:nvCxnSpPr>
        <p:spPr>
          <a:xfrm rot="10800000">
            <a:off x="6936200" y="2606850"/>
            <a:ext cx="12600" cy="38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15"/>
          <p:cNvSpPr txBox="1"/>
          <p:nvPr/>
        </p:nvSpPr>
        <p:spPr>
          <a:xfrm>
            <a:off x="5030250" y="3551525"/>
            <a:ext cx="3442200" cy="10449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obtener la dirección de red. Los tres primeros bytes serán iguales a la dirección IP, y del último tenemos que calcular si los 3 primeros son 1 o 0.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906100" y="2683050"/>
            <a:ext cx="1574100" cy="325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01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10700" y="3164538"/>
            <a:ext cx="1574100" cy="325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96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← 01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172600" y="3164538"/>
            <a:ext cx="1574100" cy="325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127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← 01111111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15"/>
          <p:cNvCxnSpPr>
            <a:endCxn id="78" idx="0"/>
          </p:cNvCxnSpPr>
          <p:nvPr/>
        </p:nvCxnSpPr>
        <p:spPr>
          <a:xfrm flipH="1">
            <a:off x="1397750" y="2845938"/>
            <a:ext cx="508500" cy="31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" name="Google Shape;81;p15"/>
          <p:cNvCxnSpPr>
            <a:stCxn id="77" idx="3"/>
            <a:endCxn id="79" idx="0"/>
          </p:cNvCxnSpPr>
          <p:nvPr/>
        </p:nvCxnSpPr>
        <p:spPr>
          <a:xfrm>
            <a:off x="3480200" y="2845950"/>
            <a:ext cx="479400" cy="31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Cálculo de la dirección de red y de broadcast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Configurar IP → Dirección IP y Máscara (longitud del prefijo, L)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Dirección IP &amp; Mascara → Dirección de red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Dirección de red | todos los bits de host a 1 (última del prefijo) → Dirección de broadcast </a:t>
            </a:r>
            <a:endParaRPr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1081250" y="2319150"/>
            <a:ext cx="6852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IP: 192.168.173.101/20 ⇔192.168.173.101 máscara 255.255.240.0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933350" y="3787625"/>
            <a:ext cx="3801900" cy="5727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de red → 192.168.160.0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de broadcast → 192.168.175.255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5541050" y="2986950"/>
            <a:ext cx="29250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11110000 → 128+64+32+16 = 240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6"/>
          <p:cNvCxnSpPr>
            <a:stCxn id="91" idx="0"/>
          </p:cNvCxnSpPr>
          <p:nvPr/>
        </p:nvCxnSpPr>
        <p:spPr>
          <a:xfrm rot="10800000">
            <a:off x="6990950" y="2606850"/>
            <a:ext cx="12600" cy="38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16"/>
          <p:cNvSpPr txBox="1"/>
          <p:nvPr/>
        </p:nvSpPr>
        <p:spPr>
          <a:xfrm>
            <a:off x="5030250" y="3551525"/>
            <a:ext cx="3801900" cy="10449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obtener la dirección de red. Los dos primeros bytes serán iguales a la dirección IP, del tercero calcularemos si los 4 primeros son 1 o 0, y el último byte será 0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1906100" y="2683050"/>
            <a:ext cx="1574100" cy="325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173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10101101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610700" y="3164538"/>
            <a:ext cx="1574100" cy="325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← 10100000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72600" y="3164538"/>
            <a:ext cx="1574100" cy="325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175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← 10101111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6"/>
          <p:cNvCxnSpPr>
            <a:endCxn id="95" idx="0"/>
          </p:cNvCxnSpPr>
          <p:nvPr/>
        </p:nvCxnSpPr>
        <p:spPr>
          <a:xfrm flipH="1">
            <a:off x="1397750" y="2845938"/>
            <a:ext cx="508500" cy="31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16"/>
          <p:cNvCxnSpPr>
            <a:stCxn id="94" idx="3"/>
            <a:endCxn id="96" idx="0"/>
          </p:cNvCxnSpPr>
          <p:nvPr/>
        </p:nvCxnSpPr>
        <p:spPr>
          <a:xfrm>
            <a:off x="3480200" y="2845950"/>
            <a:ext cx="479400" cy="31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Subnetting</a:t>
            </a:r>
            <a:endParaRPr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Subdivisión de un prefijo en otros más pequeños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prefijo tiene siempre un tamaño potencia de 2: 2</a:t>
            </a:r>
            <a:r>
              <a:rPr baseline="30000" lang="es"/>
              <a:t>(32-L)</a:t>
            </a:r>
            <a:endParaRPr baseline="300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 → L+1 ⇒ Dos prefijos de la mitad de tamaño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Disponemos un prefijo y tenemos que asignar redes IP a las distintas redes de nuestro escenario</a:t>
            </a:r>
            <a:endParaRPr/>
          </a:p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4226888" y="2957988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Subnetting: Ejemplo</a:t>
            </a:r>
            <a:endParaRPr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1164849" y="2541800"/>
            <a:ext cx="908928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 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0100" y="2653725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18"/>
          <p:cNvCxnSpPr>
            <a:stCxn id="114" idx="3"/>
            <a:endCxn id="116" idx="1"/>
          </p:cNvCxnSpPr>
          <p:nvPr/>
        </p:nvCxnSpPr>
        <p:spPr>
          <a:xfrm>
            <a:off x="3068850" y="2888100"/>
            <a:ext cx="115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8"/>
          <p:cNvSpPr txBox="1"/>
          <p:nvPr/>
        </p:nvSpPr>
        <p:spPr>
          <a:xfrm>
            <a:off x="2600175" y="2407800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8"/>
          <p:cNvCxnSpPr>
            <a:stCxn id="114" idx="1"/>
            <a:endCxn id="113" idx="0"/>
          </p:cNvCxnSpPr>
          <p:nvPr/>
        </p:nvCxnSpPr>
        <p:spPr>
          <a:xfrm rot="10800000">
            <a:off x="2073000" y="2888100"/>
            <a:ext cx="527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1387" y="2653725"/>
            <a:ext cx="468750" cy="4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5981438" y="2424588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8"/>
          <p:cNvCxnSpPr>
            <a:endCxn id="119" idx="1"/>
          </p:cNvCxnSpPr>
          <p:nvPr/>
        </p:nvCxnSpPr>
        <p:spPr>
          <a:xfrm>
            <a:off x="4695587" y="2888100"/>
            <a:ext cx="128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8"/>
          <p:cNvSpPr/>
          <p:nvPr/>
        </p:nvSpPr>
        <p:spPr>
          <a:xfrm>
            <a:off x="4006736" y="1656550"/>
            <a:ext cx="908928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 B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946099" y="3122475"/>
            <a:ext cx="908928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 D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946099" y="1849200"/>
            <a:ext cx="908928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 C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18"/>
          <p:cNvCxnSpPr>
            <a:stCxn id="119" idx="3"/>
            <a:endCxn id="124" idx="2"/>
          </p:cNvCxnSpPr>
          <p:nvPr/>
        </p:nvCxnSpPr>
        <p:spPr>
          <a:xfrm flipH="1" rot="10800000">
            <a:off x="6450137" y="2195400"/>
            <a:ext cx="498900" cy="69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18"/>
          <p:cNvCxnSpPr>
            <a:stCxn id="119" idx="3"/>
            <a:endCxn id="123" idx="2"/>
          </p:cNvCxnSpPr>
          <p:nvPr/>
        </p:nvCxnSpPr>
        <p:spPr>
          <a:xfrm>
            <a:off x="6450137" y="2888100"/>
            <a:ext cx="498900" cy="5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8"/>
          <p:cNvCxnSpPr>
            <a:stCxn id="122" idx="1"/>
            <a:endCxn id="110" idx="0"/>
          </p:cNvCxnSpPr>
          <p:nvPr/>
        </p:nvCxnSpPr>
        <p:spPr>
          <a:xfrm>
            <a:off x="4461200" y="2348417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6837" y="2653725"/>
            <a:ext cx="468750" cy="4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927000" y="1572425"/>
            <a:ext cx="7290000" cy="2322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3726650" y="3468900"/>
            <a:ext cx="14691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3213988" y="2594400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 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4904700" y="2594400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 F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Subnetting: Ejemplo</a:t>
            </a:r>
            <a:endParaRPr/>
          </a:p>
        </p:txBody>
      </p:sp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138" name="Google Shape;138;p19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622450"/>
                <a:gridCol w="1307225"/>
                <a:gridCol w="1689825"/>
                <a:gridCol w="1461150"/>
                <a:gridCol w="1724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Red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Nº disp. mín.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Nº IPs necesarias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Tamaño prefijo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Red IP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82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128 (/25)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32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64 (/26)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30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32 (/27)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10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16 (/28)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 (/30)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 (/30)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9" name="Google Shape;139;p19"/>
          <p:cNvCxnSpPr/>
          <p:nvPr/>
        </p:nvCxnSpPr>
        <p:spPr>
          <a:xfrm>
            <a:off x="2343725" y="4190700"/>
            <a:ext cx="85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p19"/>
          <p:cNvSpPr txBox="1"/>
          <p:nvPr/>
        </p:nvSpPr>
        <p:spPr>
          <a:xfrm>
            <a:off x="1665125" y="4281675"/>
            <a:ext cx="2210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+2 (dirección de red y de broadcast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19"/>
          <p:cNvCxnSpPr/>
          <p:nvPr/>
        </p:nvCxnSpPr>
        <p:spPr>
          <a:xfrm>
            <a:off x="4413075" y="4190700"/>
            <a:ext cx="85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19"/>
          <p:cNvSpPr txBox="1"/>
          <p:nvPr/>
        </p:nvSpPr>
        <p:spPr>
          <a:xfrm>
            <a:off x="4134775" y="4281675"/>
            <a:ext cx="1463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próxima potencia de 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1650150" y="197412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1650150" y="299707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Subnetting: Ejemplo</a:t>
            </a:r>
            <a:endParaRPr/>
          </a:p>
        </p:txBody>
      </p:sp>
      <p:sp>
        <p:nvSpPr>
          <p:cNvPr id="150" name="Google Shape;15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112525" y="2571750"/>
            <a:ext cx="1203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1734150" y="306697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192.168.1.128/25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1734150" y="204402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20"/>
          <p:cNvCxnSpPr>
            <a:stCxn id="151" idx="3"/>
            <a:endCxn id="153" idx="1"/>
          </p:cNvCxnSpPr>
          <p:nvPr/>
        </p:nvCxnSpPr>
        <p:spPr>
          <a:xfrm flipH="1" rot="10800000">
            <a:off x="1315825" y="2197950"/>
            <a:ext cx="418200" cy="5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20"/>
          <p:cNvCxnSpPr>
            <a:stCxn id="151" idx="3"/>
            <a:endCxn id="152" idx="1"/>
          </p:cNvCxnSpPr>
          <p:nvPr/>
        </p:nvCxnSpPr>
        <p:spPr>
          <a:xfrm>
            <a:off x="1315825" y="2725650"/>
            <a:ext cx="418200" cy="4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20"/>
          <p:cNvSpPr txBox="1"/>
          <p:nvPr/>
        </p:nvSpPr>
        <p:spPr>
          <a:xfrm>
            <a:off x="1860750" y="1630100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128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3866425" y="152652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3950425" y="159642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869275" y="250185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3953275" y="257175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192.168.1.64/26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20"/>
          <p:cNvCxnSpPr>
            <a:stCxn id="153" idx="3"/>
            <a:endCxn id="158" idx="1"/>
          </p:cNvCxnSpPr>
          <p:nvPr/>
        </p:nvCxnSpPr>
        <p:spPr>
          <a:xfrm flipH="1" rot="10800000">
            <a:off x="3105450" y="1750325"/>
            <a:ext cx="8451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20"/>
          <p:cNvCxnSpPr>
            <a:endCxn id="160" idx="1"/>
          </p:cNvCxnSpPr>
          <p:nvPr/>
        </p:nvCxnSpPr>
        <p:spPr>
          <a:xfrm>
            <a:off x="3105475" y="2197950"/>
            <a:ext cx="847800" cy="5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20"/>
          <p:cNvSpPr txBox="1"/>
          <p:nvPr/>
        </p:nvSpPr>
        <p:spPr>
          <a:xfrm>
            <a:off x="4082725" y="1218725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917625" y="212415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001625" y="219405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192.168.1.64/27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917625" y="299707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001625" y="306697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192.168.1.96/27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20"/>
          <p:cNvCxnSpPr>
            <a:stCxn id="160" idx="3"/>
            <a:endCxn id="165" idx="1"/>
          </p:cNvCxnSpPr>
          <p:nvPr/>
        </p:nvCxnSpPr>
        <p:spPr>
          <a:xfrm flipH="1" rot="10800000">
            <a:off x="5324575" y="2347950"/>
            <a:ext cx="677100" cy="37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20"/>
          <p:cNvCxnSpPr>
            <a:stCxn id="160" idx="3"/>
            <a:endCxn id="167" idx="1"/>
          </p:cNvCxnSpPr>
          <p:nvPr/>
        </p:nvCxnSpPr>
        <p:spPr>
          <a:xfrm>
            <a:off x="5324575" y="2725650"/>
            <a:ext cx="677100" cy="4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20"/>
          <p:cNvSpPr txBox="1"/>
          <p:nvPr/>
        </p:nvSpPr>
        <p:spPr>
          <a:xfrm>
            <a:off x="6131075" y="1820225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097550" y="375815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181550" y="382805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192.168.1.96/28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6866075" y="375815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950075" y="382805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192.168.1.112/28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20"/>
          <p:cNvCxnSpPr>
            <a:stCxn id="167" idx="2"/>
            <a:endCxn id="172" idx="0"/>
          </p:cNvCxnSpPr>
          <p:nvPr/>
        </p:nvCxnSpPr>
        <p:spPr>
          <a:xfrm flipH="1">
            <a:off x="5867075" y="3374775"/>
            <a:ext cx="820200" cy="4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20"/>
          <p:cNvCxnSpPr>
            <a:stCxn id="167" idx="2"/>
            <a:endCxn id="174" idx="0"/>
          </p:cNvCxnSpPr>
          <p:nvPr/>
        </p:nvCxnSpPr>
        <p:spPr>
          <a:xfrm>
            <a:off x="6687275" y="3374775"/>
            <a:ext cx="948600" cy="4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p20"/>
          <p:cNvSpPr txBox="1"/>
          <p:nvPr/>
        </p:nvSpPr>
        <p:spPr>
          <a:xfrm>
            <a:off x="6131075" y="4161325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285550" y="352087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369550" y="359077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192.168.1.96/29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285550" y="408900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369550" y="415890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192.168.1.104/29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20"/>
          <p:cNvCxnSpPr>
            <a:stCxn id="172" idx="1"/>
            <a:endCxn id="179" idx="3"/>
          </p:cNvCxnSpPr>
          <p:nvPr/>
        </p:nvCxnSpPr>
        <p:spPr>
          <a:xfrm rot="10800000">
            <a:off x="4740850" y="3744650"/>
            <a:ext cx="440700" cy="2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20"/>
          <p:cNvCxnSpPr>
            <a:stCxn id="172" idx="1"/>
            <a:endCxn id="181" idx="3"/>
          </p:cNvCxnSpPr>
          <p:nvPr/>
        </p:nvCxnSpPr>
        <p:spPr>
          <a:xfrm flipH="1">
            <a:off x="4740850" y="3981950"/>
            <a:ext cx="440700" cy="3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p20"/>
          <p:cNvSpPr txBox="1"/>
          <p:nvPr/>
        </p:nvSpPr>
        <p:spPr>
          <a:xfrm>
            <a:off x="3496150" y="3220950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/>
          <p:nvPr/>
        </p:nvSpPr>
        <p:spPr>
          <a:xfrm>
            <a:off x="1650150" y="197412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650150" y="299707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Subnetting: Ejemplo</a:t>
            </a:r>
            <a:endParaRPr/>
          </a:p>
        </p:txBody>
      </p:sp>
      <p:sp>
        <p:nvSpPr>
          <p:cNvPr id="192" name="Google Shape;1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12525" y="2571750"/>
            <a:ext cx="1203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1734150" y="306697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192.168.1.128/25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734150" y="204402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21"/>
          <p:cNvCxnSpPr>
            <a:stCxn id="193" idx="3"/>
            <a:endCxn id="195" idx="1"/>
          </p:cNvCxnSpPr>
          <p:nvPr/>
        </p:nvCxnSpPr>
        <p:spPr>
          <a:xfrm flipH="1" rot="10800000">
            <a:off x="1315825" y="2197950"/>
            <a:ext cx="418200" cy="5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21"/>
          <p:cNvCxnSpPr>
            <a:stCxn id="193" idx="3"/>
            <a:endCxn id="194" idx="1"/>
          </p:cNvCxnSpPr>
          <p:nvPr/>
        </p:nvCxnSpPr>
        <p:spPr>
          <a:xfrm>
            <a:off x="1315825" y="2725650"/>
            <a:ext cx="418200" cy="4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21"/>
          <p:cNvSpPr txBox="1"/>
          <p:nvPr/>
        </p:nvSpPr>
        <p:spPr>
          <a:xfrm>
            <a:off x="1860750" y="1630100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128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866425" y="152652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950425" y="159642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869275" y="250185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953275" y="257175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192.168.1.64/26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21"/>
          <p:cNvCxnSpPr>
            <a:stCxn id="195" idx="3"/>
            <a:endCxn id="200" idx="1"/>
          </p:cNvCxnSpPr>
          <p:nvPr/>
        </p:nvCxnSpPr>
        <p:spPr>
          <a:xfrm flipH="1" rot="10800000">
            <a:off x="3105450" y="1750325"/>
            <a:ext cx="8451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21"/>
          <p:cNvCxnSpPr>
            <a:endCxn id="202" idx="1"/>
          </p:cNvCxnSpPr>
          <p:nvPr/>
        </p:nvCxnSpPr>
        <p:spPr>
          <a:xfrm>
            <a:off x="3105475" y="2197950"/>
            <a:ext cx="847800" cy="5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21"/>
          <p:cNvSpPr txBox="1"/>
          <p:nvPr/>
        </p:nvSpPr>
        <p:spPr>
          <a:xfrm>
            <a:off x="4082725" y="1218725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917625" y="212415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001625" y="219405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192.168.1.64/27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917625" y="299707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001625" y="306697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192.168.1.96/27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1"/>
          <p:cNvCxnSpPr>
            <a:stCxn id="202" idx="3"/>
            <a:endCxn id="207" idx="1"/>
          </p:cNvCxnSpPr>
          <p:nvPr/>
        </p:nvCxnSpPr>
        <p:spPr>
          <a:xfrm flipH="1" rot="10800000">
            <a:off x="5324575" y="2347950"/>
            <a:ext cx="677100" cy="37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" name="Google Shape;211;p21"/>
          <p:cNvCxnSpPr>
            <a:stCxn id="202" idx="3"/>
            <a:endCxn id="209" idx="1"/>
          </p:cNvCxnSpPr>
          <p:nvPr/>
        </p:nvCxnSpPr>
        <p:spPr>
          <a:xfrm>
            <a:off x="5324575" y="2725650"/>
            <a:ext cx="677100" cy="4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21"/>
          <p:cNvSpPr txBox="1"/>
          <p:nvPr/>
        </p:nvSpPr>
        <p:spPr>
          <a:xfrm>
            <a:off x="6131075" y="1820225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097550" y="375815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181550" y="382805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192.168.1.96/28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6866075" y="375815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950075" y="382805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192.168.1.112/28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1"/>
          <p:cNvCxnSpPr>
            <a:stCxn id="209" idx="2"/>
            <a:endCxn id="214" idx="0"/>
          </p:cNvCxnSpPr>
          <p:nvPr/>
        </p:nvCxnSpPr>
        <p:spPr>
          <a:xfrm flipH="1">
            <a:off x="5867075" y="3374775"/>
            <a:ext cx="820200" cy="4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" name="Google Shape;218;p21"/>
          <p:cNvCxnSpPr>
            <a:stCxn id="209" idx="2"/>
            <a:endCxn id="216" idx="0"/>
          </p:cNvCxnSpPr>
          <p:nvPr/>
        </p:nvCxnSpPr>
        <p:spPr>
          <a:xfrm>
            <a:off x="6687275" y="3374775"/>
            <a:ext cx="948600" cy="4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21"/>
          <p:cNvSpPr txBox="1"/>
          <p:nvPr/>
        </p:nvSpPr>
        <p:spPr>
          <a:xfrm>
            <a:off x="6131075" y="4161325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285550" y="352087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369550" y="359077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192.168.1.96/29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3285550" y="408900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369550" y="415890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192.168.1.104/29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21"/>
          <p:cNvCxnSpPr>
            <a:stCxn id="214" idx="1"/>
            <a:endCxn id="221" idx="3"/>
          </p:cNvCxnSpPr>
          <p:nvPr/>
        </p:nvCxnSpPr>
        <p:spPr>
          <a:xfrm rot="10800000">
            <a:off x="4740850" y="3744650"/>
            <a:ext cx="440700" cy="2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" name="Google Shape;225;p21"/>
          <p:cNvCxnSpPr>
            <a:stCxn id="214" idx="1"/>
            <a:endCxn id="223" idx="3"/>
          </p:cNvCxnSpPr>
          <p:nvPr/>
        </p:nvCxnSpPr>
        <p:spPr>
          <a:xfrm flipH="1">
            <a:off x="4740850" y="3981950"/>
            <a:ext cx="440700" cy="3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21"/>
          <p:cNvSpPr txBox="1"/>
          <p:nvPr/>
        </p:nvSpPr>
        <p:spPr>
          <a:xfrm>
            <a:off x="3496150" y="3220950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136200" y="3881125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220200" y="3951025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192.168.1.104/30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1136200" y="4449250"/>
            <a:ext cx="1533600" cy="44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220200" y="4519150"/>
            <a:ext cx="1371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192.168.1.108/30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346800" y="3581200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direcciones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21"/>
          <p:cNvCxnSpPr>
            <a:stCxn id="223" idx="1"/>
            <a:endCxn id="228" idx="3"/>
          </p:cNvCxnSpPr>
          <p:nvPr/>
        </p:nvCxnSpPr>
        <p:spPr>
          <a:xfrm rot="10800000">
            <a:off x="2591350" y="4104900"/>
            <a:ext cx="778200" cy="2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" name="Google Shape;233;p21"/>
          <p:cNvCxnSpPr>
            <a:stCxn id="223" idx="1"/>
            <a:endCxn id="230" idx="3"/>
          </p:cNvCxnSpPr>
          <p:nvPr/>
        </p:nvCxnSpPr>
        <p:spPr>
          <a:xfrm flipH="1">
            <a:off x="2591350" y="4312800"/>
            <a:ext cx="778200" cy="3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Subnetting: Ejemplo</a:t>
            </a:r>
            <a:endParaRPr/>
          </a:p>
        </p:txBody>
      </p:sp>
      <p:sp>
        <p:nvSpPr>
          <p:cNvPr id="239" name="Google Shape;23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240" name="Google Shape;240;p22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622450"/>
                <a:gridCol w="1307225"/>
                <a:gridCol w="1689825"/>
                <a:gridCol w="1461150"/>
                <a:gridCol w="1724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Red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Nº disp. mín.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Nº IPs necesarias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Tamaño prefijo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Red IP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82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128 (/25)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192.168.1.128/25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32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64 (/26)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192.168.1.0/26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30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32 (/27)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192.168.1.64/27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10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16 (/28)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192.168.1.112/28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 (/29)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192.168.1.96/29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 (/29)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u="none" cap="none" strike="noStrike">
                          <a:solidFill>
                            <a:schemeClr val="dk1"/>
                          </a:solidFill>
                        </a:rPr>
                        <a:t>192.168.1.104/29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3855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/>
          <p:nvPr/>
        </p:nvSpPr>
        <p:spPr>
          <a:xfrm>
            <a:off x="1188775" y="1219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23"/>
          <p:cNvCxnSpPr>
            <a:stCxn id="245" idx="2"/>
            <a:endCxn id="246" idx="3"/>
          </p:cNvCxnSpPr>
          <p:nvPr/>
        </p:nvCxnSpPr>
        <p:spPr>
          <a:xfrm>
            <a:off x="1989813" y="7648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3" y="137625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236692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23"/>
          <p:cNvCxnSpPr>
            <a:stCxn id="248" idx="3"/>
            <a:endCxn id="246" idx="2"/>
          </p:cNvCxnSpPr>
          <p:nvPr/>
        </p:nvCxnSpPr>
        <p:spPr>
          <a:xfrm>
            <a:off x="694763" y="1565900"/>
            <a:ext cx="498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23"/>
          <p:cNvCxnSpPr>
            <a:stCxn id="246" idx="1"/>
            <a:endCxn id="249" idx="0"/>
          </p:cNvCxnSpPr>
          <p:nvPr/>
        </p:nvCxnSpPr>
        <p:spPr>
          <a:xfrm>
            <a:off x="1989811" y="1911467"/>
            <a:ext cx="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23"/>
          <p:cNvSpPr txBox="1"/>
          <p:nvPr/>
        </p:nvSpPr>
        <p:spPr>
          <a:xfrm>
            <a:off x="1989800" y="7648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510400" y="12173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1989800" y="20732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3155275" y="746125"/>
            <a:ext cx="39597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ip address add 192.168.1.101/24 dev eth0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56" name="Google Shape;256;p23"/>
          <p:cNvCxnSpPr>
            <a:stCxn id="255" idx="1"/>
            <a:endCxn id="252" idx="3"/>
          </p:cNvCxnSpPr>
          <p:nvPr/>
        </p:nvCxnSpPr>
        <p:spPr>
          <a:xfrm rot="10800000">
            <a:off x="2857375" y="911725"/>
            <a:ext cx="29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7" name="Google Shape;257;p23"/>
          <p:cNvSpPr/>
          <p:nvPr/>
        </p:nvSpPr>
        <p:spPr>
          <a:xfrm>
            <a:off x="4841350" y="1217325"/>
            <a:ext cx="538800" cy="692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3645000" y="2028900"/>
            <a:ext cx="4183800" cy="8466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Máscara → 255.255.255.0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Dirección de Red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IP &amp; máscara → 192.168.1.0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Dirección de broadcast → 192.168.1.255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1699400" y="1329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23"/>
          <p:cNvCxnSpPr>
            <a:stCxn id="258" idx="1"/>
            <a:endCxn id="248" idx="3"/>
          </p:cNvCxnSpPr>
          <p:nvPr/>
        </p:nvCxnSpPr>
        <p:spPr>
          <a:xfrm rot="10800000">
            <a:off x="694800" y="1566000"/>
            <a:ext cx="2950200" cy="886200"/>
          </a:xfrm>
          <a:prstGeom prst="curvedConnector3">
            <a:avLst>
              <a:gd fmla="val 74225" name="adj1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261" name="Google Shape;261;p23"/>
          <p:cNvCxnSpPr>
            <a:stCxn id="258" idx="1"/>
            <a:endCxn id="249" idx="2"/>
          </p:cNvCxnSpPr>
          <p:nvPr/>
        </p:nvCxnSpPr>
        <p:spPr>
          <a:xfrm flipH="1">
            <a:off x="1989900" y="2452200"/>
            <a:ext cx="1655100" cy="294000"/>
          </a:xfrm>
          <a:prstGeom prst="curvedConnector4">
            <a:avLst>
              <a:gd fmla="val 18599" name="adj1"/>
              <a:gd fmla="val 205825" name="adj2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triangle"/>
            <a:tailEnd len="sm" w="sm" type="none"/>
          </a:ln>
        </p:spPr>
      </p:cxnSp>
      <p:graphicFrame>
        <p:nvGraphicFramePr>
          <p:cNvPr id="262" name="Google Shape;262;p23"/>
          <p:cNvGraphicFramePr/>
          <p:nvPr/>
        </p:nvGraphicFramePr>
        <p:xfrm>
          <a:off x="1857375" y="358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809750"/>
                <a:gridCol w="1809750"/>
                <a:gridCol w="1809750"/>
              </a:tblGrid>
              <a:tr h="14685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TABLA DE ENCAMINAMIENTO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4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PREFIJO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NEXT HOP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INTERFAZ DE SALIDA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192.168.1.0/24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0.0.0.0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eth0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214713" y="16845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1699413" y="26700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/>
          <p:nvPr/>
        </p:nvSpPr>
        <p:spPr>
          <a:xfrm>
            <a:off x="1770025" y="4189475"/>
            <a:ext cx="56997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3855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/>
          <p:nvPr/>
        </p:nvSpPr>
        <p:spPr>
          <a:xfrm>
            <a:off x="1188775" y="1219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24"/>
          <p:cNvCxnSpPr>
            <a:stCxn id="271" idx="2"/>
            <a:endCxn id="272" idx="3"/>
          </p:cNvCxnSpPr>
          <p:nvPr/>
        </p:nvCxnSpPr>
        <p:spPr>
          <a:xfrm>
            <a:off x="1989813" y="7648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4" name="Google Shape;2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3" y="137625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236692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24"/>
          <p:cNvCxnSpPr>
            <a:stCxn id="274" idx="3"/>
            <a:endCxn id="272" idx="2"/>
          </p:cNvCxnSpPr>
          <p:nvPr/>
        </p:nvCxnSpPr>
        <p:spPr>
          <a:xfrm>
            <a:off x="694763" y="1565900"/>
            <a:ext cx="498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24"/>
          <p:cNvCxnSpPr>
            <a:stCxn id="272" idx="1"/>
            <a:endCxn id="275" idx="0"/>
          </p:cNvCxnSpPr>
          <p:nvPr/>
        </p:nvCxnSpPr>
        <p:spPr>
          <a:xfrm>
            <a:off x="1989811" y="1911467"/>
            <a:ext cx="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24"/>
          <p:cNvSpPr txBox="1"/>
          <p:nvPr/>
        </p:nvSpPr>
        <p:spPr>
          <a:xfrm>
            <a:off x="1989800" y="7648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510400" y="12173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1989800" y="20732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2850475" y="409625"/>
            <a:ext cx="18789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ping 192.168.1.103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82" name="Google Shape;282;p24"/>
          <p:cNvCxnSpPr>
            <a:stCxn id="281" idx="1"/>
            <a:endCxn id="271" idx="3"/>
          </p:cNvCxnSpPr>
          <p:nvPr/>
        </p:nvCxnSpPr>
        <p:spPr>
          <a:xfrm rot="10800000">
            <a:off x="2179375" y="575225"/>
            <a:ext cx="671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p24"/>
          <p:cNvSpPr txBox="1"/>
          <p:nvPr/>
        </p:nvSpPr>
        <p:spPr>
          <a:xfrm>
            <a:off x="1699400" y="1329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4" name="Google Shape;284;p24"/>
          <p:cNvGraphicFramePr/>
          <p:nvPr/>
        </p:nvGraphicFramePr>
        <p:xfrm>
          <a:off x="315475" y="305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365675"/>
                <a:gridCol w="1365675"/>
                <a:gridCol w="1567975"/>
              </a:tblGrid>
              <a:tr h="346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TABLA DE ENCAMINAMIENTO PC01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PREFIJO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NEXT HOP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INTERFAZ DE SALIDA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192.168.1.0/24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0.0.0.0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eth0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24"/>
          <p:cNvSpPr txBox="1"/>
          <p:nvPr/>
        </p:nvSpPr>
        <p:spPr>
          <a:xfrm>
            <a:off x="214713" y="16845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1699413" y="26700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5806825" y="472250"/>
            <a:ext cx="18789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 </a:t>
            </a: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192.168.1.103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6515425" y="10585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3776800" y="1051225"/>
            <a:ext cx="27387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en la tabla de encaminamiento al menos un prefijo que contenga la 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24"/>
          <p:cNvCxnSpPr>
            <a:stCxn id="287" idx="2"/>
            <a:endCxn id="288" idx="0"/>
          </p:cNvCxnSpPr>
          <p:nvPr/>
        </p:nvCxnSpPr>
        <p:spPr>
          <a:xfrm>
            <a:off x="6746275" y="765950"/>
            <a:ext cx="0" cy="2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p24"/>
          <p:cNvSpPr/>
          <p:nvPr/>
        </p:nvSpPr>
        <p:spPr>
          <a:xfrm>
            <a:off x="7428425" y="1139425"/>
            <a:ext cx="14427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Paquete descartado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24"/>
          <p:cNvCxnSpPr>
            <a:stCxn id="288" idx="3"/>
            <a:endCxn id="291" idx="1"/>
          </p:cNvCxnSpPr>
          <p:nvPr/>
        </p:nvCxnSpPr>
        <p:spPr>
          <a:xfrm>
            <a:off x="6977125" y="1286275"/>
            <a:ext cx="45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3" name="Google Shape;293;p24"/>
          <p:cNvSpPr txBox="1"/>
          <p:nvPr/>
        </p:nvSpPr>
        <p:spPr>
          <a:xfrm>
            <a:off x="6977125" y="982375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24"/>
          <p:cNvCxnSpPr>
            <a:stCxn id="288" idx="2"/>
            <a:endCxn id="295" idx="0"/>
          </p:cNvCxnSpPr>
          <p:nvPr/>
        </p:nvCxnSpPr>
        <p:spPr>
          <a:xfrm>
            <a:off x="6746275" y="1513975"/>
            <a:ext cx="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p24"/>
          <p:cNvSpPr txBox="1"/>
          <p:nvPr/>
        </p:nvSpPr>
        <p:spPr>
          <a:xfrm>
            <a:off x="6746275" y="1511025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5551225" y="2550850"/>
            <a:ext cx="2390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NH=IP nh tabla de encaminamiento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24"/>
          <p:cNvCxnSpPr>
            <a:stCxn id="295" idx="2"/>
            <a:endCxn id="297" idx="0"/>
          </p:cNvCxnSpPr>
          <p:nvPr/>
        </p:nvCxnSpPr>
        <p:spPr>
          <a:xfrm>
            <a:off x="6746275" y="2249975"/>
            <a:ext cx="0" cy="30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24"/>
          <p:cNvSpPr/>
          <p:nvPr/>
        </p:nvSpPr>
        <p:spPr>
          <a:xfrm>
            <a:off x="5584225" y="3145425"/>
            <a:ext cx="2324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Enviar trama por interfaz de salida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24"/>
          <p:cNvCxnSpPr>
            <a:stCxn id="297" idx="2"/>
            <a:endCxn id="299" idx="0"/>
          </p:cNvCxnSpPr>
          <p:nvPr/>
        </p:nvCxnSpPr>
        <p:spPr>
          <a:xfrm>
            <a:off x="6746275" y="2844550"/>
            <a:ext cx="0" cy="30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01" name="Google Shape;301;p24"/>
          <p:cNvGraphicFramePr/>
          <p:nvPr/>
        </p:nvGraphicFramePr>
        <p:xfrm>
          <a:off x="1771050" y="417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139950"/>
                <a:gridCol w="1139950"/>
                <a:gridCol w="1139950"/>
                <a:gridCol w="1139950"/>
                <a:gridCol w="1139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PC01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next hop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192.168.1.103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ICMP Request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cxnSp>
        <p:nvCxnSpPr>
          <p:cNvPr id="302" name="Google Shape;302;p24"/>
          <p:cNvCxnSpPr>
            <a:stCxn id="299" idx="2"/>
            <a:endCxn id="270" idx="3"/>
          </p:cNvCxnSpPr>
          <p:nvPr/>
        </p:nvCxnSpPr>
        <p:spPr>
          <a:xfrm flipH="1" rot="-5400000">
            <a:off x="6638125" y="3547275"/>
            <a:ext cx="939900" cy="723600"/>
          </a:xfrm>
          <a:prstGeom prst="bentConnector4">
            <a:avLst>
              <a:gd fmla="val 39916" name="adj1"/>
              <a:gd fmla="val 132888" name="adj2"/>
            </a:avLst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03" name="Google Shape;303;p24"/>
          <p:cNvSpPr/>
          <p:nvPr/>
        </p:nvSpPr>
        <p:spPr>
          <a:xfrm>
            <a:off x="3092300" y="1817775"/>
            <a:ext cx="2161800" cy="8046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 0.0.0.0 </a:t>
            </a: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direcciones IP directamente alcanzables (IPs de redes a las que el dispositivo está conectado)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24"/>
          <p:cNvCxnSpPr>
            <a:stCxn id="303" idx="1"/>
          </p:cNvCxnSpPr>
          <p:nvPr/>
        </p:nvCxnSpPr>
        <p:spPr>
          <a:xfrm flipH="1">
            <a:off x="2287700" y="2220075"/>
            <a:ext cx="804600" cy="16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05" name="Google Shape;305;p24"/>
          <p:cNvCxnSpPr/>
          <p:nvPr/>
        </p:nvCxnSpPr>
        <p:spPr>
          <a:xfrm flipH="1">
            <a:off x="7032925" y="1672075"/>
            <a:ext cx="339600" cy="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" name="Google Shape;306;p24"/>
          <p:cNvCxnSpPr/>
          <p:nvPr/>
        </p:nvCxnSpPr>
        <p:spPr>
          <a:xfrm flipH="1" rot="10800000">
            <a:off x="2354725" y="4614575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7" name="Google Shape;307;p24"/>
          <p:cNvSpPr txBox="1"/>
          <p:nvPr/>
        </p:nvSpPr>
        <p:spPr>
          <a:xfrm>
            <a:off x="1619125" y="4782325"/>
            <a:ext cx="14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 Interfaz de salida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24"/>
          <p:cNvCxnSpPr/>
          <p:nvPr/>
        </p:nvCxnSpPr>
        <p:spPr>
          <a:xfrm flipH="1" rot="10800000">
            <a:off x="3526450" y="4622250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" name="Google Shape;309;p24"/>
          <p:cNvSpPr txBox="1"/>
          <p:nvPr/>
        </p:nvSpPr>
        <p:spPr>
          <a:xfrm>
            <a:off x="3278075" y="4790000"/>
            <a:ext cx="4989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24"/>
          <p:cNvCxnSpPr/>
          <p:nvPr/>
        </p:nvCxnSpPr>
        <p:spPr>
          <a:xfrm flipH="1" rot="10800000">
            <a:off x="4570500" y="4614575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p24"/>
          <p:cNvSpPr txBox="1"/>
          <p:nvPr/>
        </p:nvSpPr>
        <p:spPr>
          <a:xfrm>
            <a:off x="3834900" y="4782325"/>
            <a:ext cx="14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Interfaz de salida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6515425" y="17945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5710813" y="1885700"/>
            <a:ext cx="80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next hop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7448725" y="1875425"/>
            <a:ext cx="11487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NH=IP destino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24"/>
          <p:cNvCxnSpPr>
            <a:stCxn id="295" idx="3"/>
            <a:endCxn id="313" idx="1"/>
          </p:cNvCxnSpPr>
          <p:nvPr/>
        </p:nvCxnSpPr>
        <p:spPr>
          <a:xfrm>
            <a:off x="6977125" y="2022275"/>
            <a:ext cx="47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24"/>
          <p:cNvSpPr txBox="1"/>
          <p:nvPr/>
        </p:nvSpPr>
        <p:spPr>
          <a:xfrm>
            <a:off x="7023325" y="1781075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6746275" y="2250000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24"/>
          <p:cNvCxnSpPr>
            <a:stCxn id="299" idx="3"/>
            <a:endCxn id="313" idx="3"/>
          </p:cNvCxnSpPr>
          <p:nvPr/>
        </p:nvCxnSpPr>
        <p:spPr>
          <a:xfrm flipH="1" rot="10800000">
            <a:off x="7908325" y="2022375"/>
            <a:ext cx="689100" cy="1269900"/>
          </a:xfrm>
          <a:prstGeom prst="bentConnector3">
            <a:avLst>
              <a:gd fmla="val 13455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18" name="Google Shape;318;p24"/>
          <p:cNvCxnSpPr/>
          <p:nvPr/>
        </p:nvCxnSpPr>
        <p:spPr>
          <a:xfrm flipH="1" rot="10800000">
            <a:off x="7165225" y="2121950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24"/>
          <p:cNvCxnSpPr/>
          <p:nvPr/>
        </p:nvCxnSpPr>
        <p:spPr>
          <a:xfrm flipH="1" rot="10800000">
            <a:off x="5814325" y="4614575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p24"/>
          <p:cNvSpPr txBox="1"/>
          <p:nvPr/>
        </p:nvSpPr>
        <p:spPr>
          <a:xfrm>
            <a:off x="5078725" y="4782325"/>
            <a:ext cx="14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24"/>
          <p:cNvCxnSpPr>
            <a:stCxn id="278" idx="2"/>
            <a:endCxn id="280" idx="0"/>
          </p:cNvCxnSpPr>
          <p:nvPr/>
        </p:nvCxnSpPr>
        <p:spPr>
          <a:xfrm>
            <a:off x="2423600" y="1058575"/>
            <a:ext cx="0" cy="1014600"/>
          </a:xfrm>
          <a:prstGeom prst="straightConnector1">
            <a:avLst/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2" name="Google Shape;32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 txBox="1"/>
          <p:nvPr/>
        </p:nvSpPr>
        <p:spPr>
          <a:xfrm>
            <a:off x="1770025" y="4189475"/>
            <a:ext cx="56997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3855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/>
          <p:nvPr/>
        </p:nvSpPr>
        <p:spPr>
          <a:xfrm>
            <a:off x="1188775" y="1219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25"/>
          <p:cNvCxnSpPr>
            <a:stCxn id="328" idx="2"/>
            <a:endCxn id="329" idx="3"/>
          </p:cNvCxnSpPr>
          <p:nvPr/>
        </p:nvCxnSpPr>
        <p:spPr>
          <a:xfrm>
            <a:off x="1989813" y="7648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1" name="Google Shape;3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3" y="137625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236692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25"/>
          <p:cNvCxnSpPr>
            <a:stCxn id="331" idx="3"/>
            <a:endCxn id="329" idx="2"/>
          </p:cNvCxnSpPr>
          <p:nvPr/>
        </p:nvCxnSpPr>
        <p:spPr>
          <a:xfrm>
            <a:off x="694763" y="1565900"/>
            <a:ext cx="498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25"/>
          <p:cNvCxnSpPr>
            <a:stCxn id="329" idx="1"/>
            <a:endCxn id="332" idx="0"/>
          </p:cNvCxnSpPr>
          <p:nvPr/>
        </p:nvCxnSpPr>
        <p:spPr>
          <a:xfrm>
            <a:off x="1989811" y="1911467"/>
            <a:ext cx="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5"/>
          <p:cNvSpPr txBox="1"/>
          <p:nvPr/>
        </p:nvSpPr>
        <p:spPr>
          <a:xfrm>
            <a:off x="1989800" y="7648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5"/>
          <p:cNvSpPr txBox="1"/>
          <p:nvPr/>
        </p:nvSpPr>
        <p:spPr>
          <a:xfrm>
            <a:off x="510400" y="12173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5"/>
          <p:cNvSpPr txBox="1"/>
          <p:nvPr/>
        </p:nvSpPr>
        <p:spPr>
          <a:xfrm>
            <a:off x="1989800" y="20732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5"/>
          <p:cNvSpPr txBox="1"/>
          <p:nvPr/>
        </p:nvSpPr>
        <p:spPr>
          <a:xfrm>
            <a:off x="2850475" y="409625"/>
            <a:ext cx="18789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ping 192.168.1.103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39" name="Google Shape;339;p25"/>
          <p:cNvCxnSpPr>
            <a:stCxn id="338" idx="1"/>
            <a:endCxn id="328" idx="3"/>
          </p:cNvCxnSpPr>
          <p:nvPr/>
        </p:nvCxnSpPr>
        <p:spPr>
          <a:xfrm rot="10800000">
            <a:off x="2179375" y="575225"/>
            <a:ext cx="671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0" name="Google Shape;340;p25"/>
          <p:cNvSpPr txBox="1"/>
          <p:nvPr/>
        </p:nvSpPr>
        <p:spPr>
          <a:xfrm>
            <a:off x="1699400" y="1329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1" name="Google Shape;341;p25"/>
          <p:cNvGraphicFramePr/>
          <p:nvPr/>
        </p:nvGraphicFramePr>
        <p:xfrm>
          <a:off x="315475" y="305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365675"/>
                <a:gridCol w="1365675"/>
                <a:gridCol w="1567975"/>
              </a:tblGrid>
              <a:tr h="346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TABLA DE ENCAMINAMIENTO PC03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PREFIJO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NEXT HOP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INTERFAZ DE SALIDA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192.168.1.0/24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0.0.0.0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eth0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2" name="Google Shape;342;p25"/>
          <p:cNvSpPr txBox="1"/>
          <p:nvPr/>
        </p:nvSpPr>
        <p:spPr>
          <a:xfrm>
            <a:off x="214713" y="16845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1699413" y="26700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5806825" y="472250"/>
            <a:ext cx="18789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 </a:t>
            </a: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192.168.1.101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6515425" y="10585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3776800" y="1051225"/>
            <a:ext cx="27387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en la tabla de encaminamiento al menos un prefijo que contenga la 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25"/>
          <p:cNvCxnSpPr>
            <a:stCxn id="344" idx="2"/>
            <a:endCxn id="345" idx="0"/>
          </p:cNvCxnSpPr>
          <p:nvPr/>
        </p:nvCxnSpPr>
        <p:spPr>
          <a:xfrm>
            <a:off x="6746275" y="765950"/>
            <a:ext cx="0" cy="2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25"/>
          <p:cNvSpPr/>
          <p:nvPr/>
        </p:nvSpPr>
        <p:spPr>
          <a:xfrm>
            <a:off x="7428425" y="1139425"/>
            <a:ext cx="14427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Paquete descartado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25"/>
          <p:cNvCxnSpPr>
            <a:stCxn id="345" idx="3"/>
            <a:endCxn id="348" idx="1"/>
          </p:cNvCxnSpPr>
          <p:nvPr/>
        </p:nvCxnSpPr>
        <p:spPr>
          <a:xfrm>
            <a:off x="6977125" y="1286275"/>
            <a:ext cx="45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0" name="Google Shape;350;p25"/>
          <p:cNvSpPr txBox="1"/>
          <p:nvPr/>
        </p:nvSpPr>
        <p:spPr>
          <a:xfrm>
            <a:off x="6977125" y="982375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25"/>
          <p:cNvCxnSpPr>
            <a:stCxn id="345" idx="2"/>
            <a:endCxn id="352" idx="0"/>
          </p:cNvCxnSpPr>
          <p:nvPr/>
        </p:nvCxnSpPr>
        <p:spPr>
          <a:xfrm>
            <a:off x="6746275" y="1513975"/>
            <a:ext cx="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3" name="Google Shape;353;p25"/>
          <p:cNvSpPr txBox="1"/>
          <p:nvPr/>
        </p:nvSpPr>
        <p:spPr>
          <a:xfrm>
            <a:off x="6746275" y="1511025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5551225" y="2550850"/>
            <a:ext cx="2390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NH=IP nh tabla de encaminamiento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25"/>
          <p:cNvCxnSpPr>
            <a:stCxn id="352" idx="2"/>
            <a:endCxn id="354" idx="0"/>
          </p:cNvCxnSpPr>
          <p:nvPr/>
        </p:nvCxnSpPr>
        <p:spPr>
          <a:xfrm>
            <a:off x="6746275" y="2249975"/>
            <a:ext cx="0" cy="30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6" name="Google Shape;356;p25"/>
          <p:cNvSpPr/>
          <p:nvPr/>
        </p:nvSpPr>
        <p:spPr>
          <a:xfrm>
            <a:off x="5584225" y="3145425"/>
            <a:ext cx="2324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Enviar trama por interfaz de salida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25"/>
          <p:cNvCxnSpPr>
            <a:stCxn id="354" idx="2"/>
            <a:endCxn id="356" idx="0"/>
          </p:cNvCxnSpPr>
          <p:nvPr/>
        </p:nvCxnSpPr>
        <p:spPr>
          <a:xfrm>
            <a:off x="6746275" y="2844550"/>
            <a:ext cx="0" cy="30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58" name="Google Shape;358;p25"/>
          <p:cNvGraphicFramePr/>
          <p:nvPr/>
        </p:nvGraphicFramePr>
        <p:xfrm>
          <a:off x="1771050" y="417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139950"/>
                <a:gridCol w="1139950"/>
                <a:gridCol w="1139950"/>
                <a:gridCol w="1139950"/>
                <a:gridCol w="1139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PC03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next hop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192.168.1.103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ICMP Reply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cxnSp>
        <p:nvCxnSpPr>
          <p:cNvPr id="359" name="Google Shape;359;p25"/>
          <p:cNvCxnSpPr>
            <a:stCxn id="356" idx="2"/>
            <a:endCxn id="327" idx="3"/>
          </p:cNvCxnSpPr>
          <p:nvPr/>
        </p:nvCxnSpPr>
        <p:spPr>
          <a:xfrm flipH="1" rot="-5400000">
            <a:off x="6638125" y="3547275"/>
            <a:ext cx="939900" cy="723600"/>
          </a:xfrm>
          <a:prstGeom prst="bentConnector4">
            <a:avLst>
              <a:gd fmla="val 39916" name="adj1"/>
              <a:gd fmla="val 132888" name="adj2"/>
            </a:avLst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60" name="Google Shape;360;p25"/>
          <p:cNvCxnSpPr/>
          <p:nvPr/>
        </p:nvCxnSpPr>
        <p:spPr>
          <a:xfrm flipH="1">
            <a:off x="7032925" y="1672075"/>
            <a:ext cx="339600" cy="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" name="Google Shape;361;p25"/>
          <p:cNvCxnSpPr/>
          <p:nvPr/>
        </p:nvCxnSpPr>
        <p:spPr>
          <a:xfrm flipH="1" rot="10800000">
            <a:off x="2354725" y="4614575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" name="Google Shape;362;p25"/>
          <p:cNvSpPr txBox="1"/>
          <p:nvPr/>
        </p:nvSpPr>
        <p:spPr>
          <a:xfrm>
            <a:off x="1619125" y="4782325"/>
            <a:ext cx="14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 Interfaz de salida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25"/>
          <p:cNvCxnSpPr/>
          <p:nvPr/>
        </p:nvCxnSpPr>
        <p:spPr>
          <a:xfrm flipH="1" rot="10800000">
            <a:off x="3526450" y="4622250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25"/>
          <p:cNvSpPr txBox="1"/>
          <p:nvPr/>
        </p:nvSpPr>
        <p:spPr>
          <a:xfrm>
            <a:off x="3278075" y="4790000"/>
            <a:ext cx="4989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25"/>
          <p:cNvCxnSpPr/>
          <p:nvPr/>
        </p:nvCxnSpPr>
        <p:spPr>
          <a:xfrm flipH="1" rot="10800000">
            <a:off x="4570500" y="4614575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6" name="Google Shape;366;p25"/>
          <p:cNvSpPr txBox="1"/>
          <p:nvPr/>
        </p:nvSpPr>
        <p:spPr>
          <a:xfrm>
            <a:off x="3834900" y="4782325"/>
            <a:ext cx="14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Interfaz de salida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6515425" y="17945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5"/>
          <p:cNvSpPr txBox="1"/>
          <p:nvPr/>
        </p:nvSpPr>
        <p:spPr>
          <a:xfrm>
            <a:off x="5710813" y="1885700"/>
            <a:ext cx="80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next hop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7448725" y="1875425"/>
            <a:ext cx="11487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NH=IP destino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25"/>
          <p:cNvCxnSpPr>
            <a:stCxn id="352" idx="3"/>
            <a:endCxn id="368" idx="1"/>
          </p:cNvCxnSpPr>
          <p:nvPr/>
        </p:nvCxnSpPr>
        <p:spPr>
          <a:xfrm>
            <a:off x="6977125" y="2022275"/>
            <a:ext cx="47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p25"/>
          <p:cNvSpPr txBox="1"/>
          <p:nvPr/>
        </p:nvSpPr>
        <p:spPr>
          <a:xfrm>
            <a:off x="7023325" y="1781075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6746275" y="2250000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25"/>
          <p:cNvCxnSpPr>
            <a:stCxn id="356" idx="3"/>
            <a:endCxn id="368" idx="3"/>
          </p:cNvCxnSpPr>
          <p:nvPr/>
        </p:nvCxnSpPr>
        <p:spPr>
          <a:xfrm flipH="1" rot="10800000">
            <a:off x="7908325" y="2022375"/>
            <a:ext cx="689100" cy="1269900"/>
          </a:xfrm>
          <a:prstGeom prst="bentConnector3">
            <a:avLst>
              <a:gd fmla="val 13455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73" name="Google Shape;373;p25"/>
          <p:cNvCxnSpPr/>
          <p:nvPr/>
        </p:nvCxnSpPr>
        <p:spPr>
          <a:xfrm flipH="1" rot="10800000">
            <a:off x="7165225" y="2121950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" name="Google Shape;374;p25"/>
          <p:cNvCxnSpPr/>
          <p:nvPr/>
        </p:nvCxnSpPr>
        <p:spPr>
          <a:xfrm flipH="1" rot="10800000">
            <a:off x="5814325" y="4614575"/>
            <a:ext cx="3000" cy="187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5" name="Google Shape;375;p25"/>
          <p:cNvSpPr txBox="1"/>
          <p:nvPr/>
        </p:nvSpPr>
        <p:spPr>
          <a:xfrm>
            <a:off x="5078725" y="4782325"/>
            <a:ext cx="14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25"/>
          <p:cNvCxnSpPr/>
          <p:nvPr/>
        </p:nvCxnSpPr>
        <p:spPr>
          <a:xfrm rot="10800000">
            <a:off x="2423600" y="1058575"/>
            <a:ext cx="0" cy="1014600"/>
          </a:xfrm>
          <a:prstGeom prst="straightConnector1">
            <a:avLst/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7" name="Google Shape;37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"/>
          <p:cNvSpPr txBox="1"/>
          <p:nvPr/>
        </p:nvSpPr>
        <p:spPr>
          <a:xfrm>
            <a:off x="2590975" y="26327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6"/>
          <p:cNvSpPr txBox="1"/>
          <p:nvPr/>
        </p:nvSpPr>
        <p:spPr>
          <a:xfrm>
            <a:off x="3426550" y="26327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6"/>
          <p:cNvSpPr txBox="1"/>
          <p:nvPr/>
        </p:nvSpPr>
        <p:spPr>
          <a:xfrm>
            <a:off x="4991825" y="26327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 txBox="1"/>
          <p:nvPr/>
        </p:nvSpPr>
        <p:spPr>
          <a:xfrm>
            <a:off x="5695063" y="26327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14523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6"/>
          <p:cNvSpPr/>
          <p:nvPr/>
        </p:nvSpPr>
        <p:spPr>
          <a:xfrm>
            <a:off x="1188775" y="22864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26"/>
          <p:cNvCxnSpPr>
            <a:stCxn id="386" idx="2"/>
            <a:endCxn id="387" idx="3"/>
          </p:cNvCxnSpPr>
          <p:nvPr/>
        </p:nvCxnSpPr>
        <p:spPr>
          <a:xfrm>
            <a:off x="1989813" y="18316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89" name="Google Shape;3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3" y="244305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563" y="343372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26"/>
          <p:cNvCxnSpPr>
            <a:stCxn id="389" idx="3"/>
            <a:endCxn id="387" idx="2"/>
          </p:cNvCxnSpPr>
          <p:nvPr/>
        </p:nvCxnSpPr>
        <p:spPr>
          <a:xfrm>
            <a:off x="694763" y="2632700"/>
            <a:ext cx="498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26"/>
          <p:cNvCxnSpPr>
            <a:stCxn id="387" idx="1"/>
            <a:endCxn id="390" idx="0"/>
          </p:cNvCxnSpPr>
          <p:nvPr/>
        </p:nvCxnSpPr>
        <p:spPr>
          <a:xfrm flipH="1">
            <a:off x="999211" y="2978267"/>
            <a:ext cx="99060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26"/>
          <p:cNvSpPr txBox="1"/>
          <p:nvPr/>
        </p:nvSpPr>
        <p:spPr>
          <a:xfrm>
            <a:off x="1989800" y="18316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6"/>
          <p:cNvSpPr txBox="1"/>
          <p:nvPr/>
        </p:nvSpPr>
        <p:spPr>
          <a:xfrm>
            <a:off x="510400" y="22841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465800" y="31400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1699400" y="11997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214713" y="27513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6"/>
          <p:cNvSpPr txBox="1"/>
          <p:nvPr/>
        </p:nvSpPr>
        <p:spPr>
          <a:xfrm>
            <a:off x="708813" y="37368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5125" y="2398325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26"/>
          <p:cNvCxnSpPr>
            <a:endCxn id="399" idx="1"/>
          </p:cNvCxnSpPr>
          <p:nvPr/>
        </p:nvCxnSpPr>
        <p:spPr>
          <a:xfrm>
            <a:off x="2789525" y="2632700"/>
            <a:ext cx="40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1" name="Google Shape;4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8563" y="146992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6"/>
          <p:cNvSpPr/>
          <p:nvPr/>
        </p:nvSpPr>
        <p:spPr>
          <a:xfrm>
            <a:off x="6497175" y="230395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26"/>
          <p:cNvCxnSpPr>
            <a:stCxn id="401" idx="2"/>
            <a:endCxn id="402" idx="3"/>
          </p:cNvCxnSpPr>
          <p:nvPr/>
        </p:nvCxnSpPr>
        <p:spPr>
          <a:xfrm>
            <a:off x="7298213" y="184922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4" name="Google Shape;4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4275" y="246060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5363" y="345127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" name="Google Shape;406;p26"/>
          <p:cNvCxnSpPr>
            <a:stCxn id="402" idx="1"/>
            <a:endCxn id="405" idx="0"/>
          </p:cNvCxnSpPr>
          <p:nvPr/>
        </p:nvCxnSpPr>
        <p:spPr>
          <a:xfrm>
            <a:off x="7298211" y="2995817"/>
            <a:ext cx="106680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6"/>
          <p:cNvSpPr txBox="1"/>
          <p:nvPr/>
        </p:nvSpPr>
        <p:spPr>
          <a:xfrm>
            <a:off x="7298200" y="18492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192.168.2.201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6"/>
          <p:cNvSpPr txBox="1"/>
          <p:nvPr/>
        </p:nvSpPr>
        <p:spPr>
          <a:xfrm>
            <a:off x="7952400" y="23016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192.168.2.202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6"/>
          <p:cNvSpPr txBox="1"/>
          <p:nvPr/>
        </p:nvSpPr>
        <p:spPr>
          <a:xfrm>
            <a:off x="8136400" y="31575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192.168.2.203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6"/>
          <p:cNvSpPr txBox="1"/>
          <p:nvPr/>
        </p:nvSpPr>
        <p:spPr>
          <a:xfrm>
            <a:off x="7007800" y="12172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PC04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8503513" y="27337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PC05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6"/>
          <p:cNvSpPr txBox="1"/>
          <p:nvPr/>
        </p:nvSpPr>
        <p:spPr>
          <a:xfrm>
            <a:off x="8074613" y="37544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PC06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6"/>
          <p:cNvCxnSpPr>
            <a:endCxn id="404" idx="1"/>
          </p:cNvCxnSpPr>
          <p:nvPr/>
        </p:nvCxnSpPr>
        <p:spPr>
          <a:xfrm>
            <a:off x="8097875" y="2650250"/>
            <a:ext cx="50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4" name="Google Shape;41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1000" y="2415875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" name="Google Shape;415;p26"/>
          <p:cNvCxnSpPr>
            <a:stCxn id="414" idx="3"/>
            <a:endCxn id="402" idx="2"/>
          </p:cNvCxnSpPr>
          <p:nvPr/>
        </p:nvCxnSpPr>
        <p:spPr>
          <a:xfrm>
            <a:off x="5949750" y="2650250"/>
            <a:ext cx="552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26"/>
          <p:cNvCxnSpPr>
            <a:endCxn id="414" idx="1"/>
          </p:cNvCxnSpPr>
          <p:nvPr/>
        </p:nvCxnSpPr>
        <p:spPr>
          <a:xfrm>
            <a:off x="3637800" y="2632550"/>
            <a:ext cx="1843200" cy="1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26"/>
          <p:cNvSpPr txBox="1"/>
          <p:nvPr/>
        </p:nvSpPr>
        <p:spPr>
          <a:xfrm>
            <a:off x="3188088" y="1338575"/>
            <a:ext cx="2911800" cy="7566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“buena práctica” cuando hay un único router en una red, se le configura la primera IP asignable del rango en la interfaz que le conecta a dicha red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p26"/>
          <p:cNvCxnSpPr>
            <a:stCxn id="417" idx="1"/>
            <a:endCxn id="382" idx="0"/>
          </p:cNvCxnSpPr>
          <p:nvPr/>
        </p:nvCxnSpPr>
        <p:spPr>
          <a:xfrm flipH="1">
            <a:off x="2961888" y="1716875"/>
            <a:ext cx="226200" cy="915900"/>
          </a:xfrm>
          <a:prstGeom prst="bentConnector2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19" name="Google Shape;419;p26"/>
          <p:cNvCxnSpPr>
            <a:stCxn id="417" idx="3"/>
          </p:cNvCxnSpPr>
          <p:nvPr/>
        </p:nvCxnSpPr>
        <p:spPr>
          <a:xfrm>
            <a:off x="6099888" y="1716875"/>
            <a:ext cx="175200" cy="915900"/>
          </a:xfrm>
          <a:prstGeom prst="bentConnector2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20" name="Google Shape;420;p26"/>
          <p:cNvSpPr txBox="1"/>
          <p:nvPr/>
        </p:nvSpPr>
        <p:spPr>
          <a:xfrm>
            <a:off x="4035988" y="23436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1" name="Google Shape;421;p26"/>
          <p:cNvGraphicFramePr/>
          <p:nvPr/>
        </p:nvGraphicFramePr>
        <p:xfrm>
          <a:off x="444775" y="12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22" name="Google Shape;422;p26"/>
          <p:cNvGraphicFramePr/>
          <p:nvPr/>
        </p:nvGraphicFramePr>
        <p:xfrm>
          <a:off x="5949750" y="15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23" name="Google Shape;423;p26"/>
          <p:cNvGraphicFramePr/>
          <p:nvPr/>
        </p:nvGraphicFramePr>
        <p:xfrm>
          <a:off x="1686700" y="339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4" name="Google Shape;424;p26"/>
          <p:cNvSpPr txBox="1"/>
          <p:nvPr/>
        </p:nvSpPr>
        <p:spPr>
          <a:xfrm>
            <a:off x="3227975" y="2166900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6"/>
          <p:cNvSpPr txBox="1"/>
          <p:nvPr/>
        </p:nvSpPr>
        <p:spPr>
          <a:xfrm>
            <a:off x="5466075" y="2166888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6" name="Google Shape;426;p26"/>
          <p:cNvGraphicFramePr/>
          <p:nvPr/>
        </p:nvGraphicFramePr>
        <p:xfrm>
          <a:off x="4766363" y="338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R02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7" name="Google Shape;42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3855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7"/>
          <p:cNvSpPr/>
          <p:nvPr/>
        </p:nvSpPr>
        <p:spPr>
          <a:xfrm>
            <a:off x="1188775" y="1219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27"/>
          <p:cNvCxnSpPr>
            <a:stCxn id="432" idx="2"/>
            <a:endCxn id="433" idx="3"/>
          </p:cNvCxnSpPr>
          <p:nvPr/>
        </p:nvCxnSpPr>
        <p:spPr>
          <a:xfrm>
            <a:off x="1989813" y="7648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5" name="Google Shape;4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3" y="137625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236692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27"/>
          <p:cNvCxnSpPr>
            <a:stCxn id="435" idx="3"/>
            <a:endCxn id="433" idx="2"/>
          </p:cNvCxnSpPr>
          <p:nvPr/>
        </p:nvCxnSpPr>
        <p:spPr>
          <a:xfrm>
            <a:off x="694763" y="1565900"/>
            <a:ext cx="498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27"/>
          <p:cNvCxnSpPr>
            <a:stCxn id="433" idx="1"/>
            <a:endCxn id="436" idx="0"/>
          </p:cNvCxnSpPr>
          <p:nvPr/>
        </p:nvCxnSpPr>
        <p:spPr>
          <a:xfrm>
            <a:off x="1989811" y="1911467"/>
            <a:ext cx="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27"/>
          <p:cNvSpPr txBox="1"/>
          <p:nvPr/>
        </p:nvSpPr>
        <p:spPr>
          <a:xfrm>
            <a:off x="1989800" y="7648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7"/>
          <p:cNvSpPr txBox="1"/>
          <p:nvPr/>
        </p:nvSpPr>
        <p:spPr>
          <a:xfrm>
            <a:off x="510400" y="12173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7"/>
          <p:cNvSpPr txBox="1"/>
          <p:nvPr/>
        </p:nvSpPr>
        <p:spPr>
          <a:xfrm>
            <a:off x="1989800" y="20732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7"/>
          <p:cNvSpPr txBox="1"/>
          <p:nvPr/>
        </p:nvSpPr>
        <p:spPr>
          <a:xfrm>
            <a:off x="2850475" y="409625"/>
            <a:ext cx="18789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ping 192.168.2.201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43" name="Google Shape;443;p27"/>
          <p:cNvCxnSpPr>
            <a:stCxn id="442" idx="1"/>
            <a:endCxn id="432" idx="3"/>
          </p:cNvCxnSpPr>
          <p:nvPr/>
        </p:nvCxnSpPr>
        <p:spPr>
          <a:xfrm rot="10800000">
            <a:off x="2179375" y="575225"/>
            <a:ext cx="671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4" name="Google Shape;444;p27"/>
          <p:cNvSpPr txBox="1"/>
          <p:nvPr/>
        </p:nvSpPr>
        <p:spPr>
          <a:xfrm>
            <a:off x="1699400" y="1329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7"/>
          <p:cNvSpPr txBox="1"/>
          <p:nvPr/>
        </p:nvSpPr>
        <p:spPr>
          <a:xfrm>
            <a:off x="214713" y="16845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7"/>
          <p:cNvSpPr txBox="1"/>
          <p:nvPr/>
        </p:nvSpPr>
        <p:spPr>
          <a:xfrm>
            <a:off x="1699413" y="26700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5806825" y="472250"/>
            <a:ext cx="18789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 </a:t>
            </a: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192.168.2.201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7"/>
          <p:cNvSpPr/>
          <p:nvPr/>
        </p:nvSpPr>
        <p:spPr>
          <a:xfrm>
            <a:off x="6515425" y="10585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7"/>
          <p:cNvSpPr txBox="1"/>
          <p:nvPr/>
        </p:nvSpPr>
        <p:spPr>
          <a:xfrm>
            <a:off x="3776800" y="1051225"/>
            <a:ext cx="27387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ruta en la tabla de encaminamiento al menos un prefijo que contenga la 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27"/>
          <p:cNvCxnSpPr>
            <a:stCxn id="447" idx="2"/>
            <a:endCxn id="448" idx="0"/>
          </p:cNvCxnSpPr>
          <p:nvPr/>
        </p:nvCxnSpPr>
        <p:spPr>
          <a:xfrm>
            <a:off x="6746275" y="765950"/>
            <a:ext cx="0" cy="2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1" name="Google Shape;451;p27"/>
          <p:cNvSpPr/>
          <p:nvPr/>
        </p:nvSpPr>
        <p:spPr>
          <a:xfrm>
            <a:off x="7428425" y="1139425"/>
            <a:ext cx="14427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Paquete descartado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27"/>
          <p:cNvCxnSpPr>
            <a:stCxn id="448" idx="3"/>
            <a:endCxn id="451" idx="1"/>
          </p:cNvCxnSpPr>
          <p:nvPr/>
        </p:nvCxnSpPr>
        <p:spPr>
          <a:xfrm>
            <a:off x="6977125" y="1286275"/>
            <a:ext cx="45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3" name="Google Shape;453;p27"/>
          <p:cNvSpPr txBox="1"/>
          <p:nvPr/>
        </p:nvSpPr>
        <p:spPr>
          <a:xfrm>
            <a:off x="6977125" y="982375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7"/>
          <p:cNvSpPr txBox="1"/>
          <p:nvPr/>
        </p:nvSpPr>
        <p:spPr>
          <a:xfrm>
            <a:off x="2663300" y="1520638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100" y="1331513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6" name="Google Shape;456;p27"/>
          <p:cNvCxnSpPr>
            <a:stCxn id="433" idx="0"/>
            <a:endCxn id="455" idx="1"/>
          </p:cNvCxnSpPr>
          <p:nvPr/>
        </p:nvCxnSpPr>
        <p:spPr>
          <a:xfrm>
            <a:off x="2789512" y="1565902"/>
            <a:ext cx="394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27"/>
          <p:cNvSpPr txBox="1"/>
          <p:nvPr/>
        </p:nvSpPr>
        <p:spPr>
          <a:xfrm>
            <a:off x="3184175" y="1111225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8" name="Google Shape;458;p27"/>
          <p:cNvGraphicFramePr/>
          <p:nvPr/>
        </p:nvGraphicFramePr>
        <p:xfrm>
          <a:off x="3701925" y="159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PC01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9" name="Google Shape;459;p27"/>
          <p:cNvSpPr txBox="1"/>
          <p:nvPr/>
        </p:nvSpPr>
        <p:spPr>
          <a:xfrm>
            <a:off x="6832475" y="1674373"/>
            <a:ext cx="1828800" cy="7650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los terminales conectados a una red de acceso se les configura una ruta por defecto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7"/>
          <p:cNvSpPr txBox="1"/>
          <p:nvPr/>
        </p:nvSpPr>
        <p:spPr>
          <a:xfrm>
            <a:off x="3669325" y="2687225"/>
            <a:ext cx="36870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ip route add default via 192.168.1.1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4890325" y="2763725"/>
            <a:ext cx="798000" cy="25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6002725" y="2725925"/>
            <a:ext cx="1165500" cy="292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7"/>
          <p:cNvSpPr txBox="1"/>
          <p:nvPr/>
        </p:nvSpPr>
        <p:spPr>
          <a:xfrm>
            <a:off x="1042425" y="3180875"/>
            <a:ext cx="3687000" cy="2937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0.0.0.0/0 → Prefijo de longitud 0 ⇒ 2</a:t>
            </a:r>
            <a:r>
              <a:rPr b="1" baseline="30000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direcciones (todas)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6555875" y="3569775"/>
            <a:ext cx="2382000" cy="5577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Gateway (puerta de enlace)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Dirección IP de la interfaz del router conectada a la red de acceso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5" name="Google Shape;465;p27"/>
          <p:cNvCxnSpPr>
            <a:stCxn id="464" idx="1"/>
            <a:endCxn id="462" idx="4"/>
          </p:cNvCxnSpPr>
          <p:nvPr/>
        </p:nvCxnSpPr>
        <p:spPr>
          <a:xfrm flipH="1" rot="10800000">
            <a:off x="6555875" y="3018525"/>
            <a:ext cx="29700" cy="830100"/>
          </a:xfrm>
          <a:prstGeom prst="bentConnector4">
            <a:avLst>
              <a:gd fmla="val -801768" name="adj1"/>
              <a:gd fmla="val 66802" name="adj2"/>
            </a:avLst>
          </a:prstGeom>
          <a:noFill/>
          <a:ln cap="flat" cmpd="sng" w="19050">
            <a:solidFill>
              <a:srgbClr val="4A86E8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66" name="Google Shape;466;p27"/>
          <p:cNvCxnSpPr>
            <a:stCxn id="463" idx="3"/>
            <a:endCxn id="461" idx="4"/>
          </p:cNvCxnSpPr>
          <p:nvPr/>
        </p:nvCxnSpPr>
        <p:spPr>
          <a:xfrm flipH="1" rot="10800000">
            <a:off x="4729425" y="3018425"/>
            <a:ext cx="559800" cy="309300"/>
          </a:xfrm>
          <a:prstGeom prst="bentConnector2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sm" w="sm" type="none"/>
            <a:tailEnd len="med" w="med" type="triangle"/>
          </a:ln>
        </p:spPr>
      </p:cxnSp>
      <p:graphicFrame>
        <p:nvGraphicFramePr>
          <p:cNvPr id="467" name="Google Shape;467;p27"/>
          <p:cNvGraphicFramePr/>
          <p:nvPr/>
        </p:nvGraphicFramePr>
        <p:xfrm>
          <a:off x="795513" y="363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0.0.0.0/0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8" name="Google Shape;468;p27"/>
          <p:cNvSpPr/>
          <p:nvPr/>
        </p:nvSpPr>
        <p:spPr>
          <a:xfrm flipH="1" rot="-5400000">
            <a:off x="4070050" y="2905175"/>
            <a:ext cx="1644000" cy="1983300"/>
          </a:xfrm>
          <a:prstGeom prst="bentUpArrow">
            <a:avLst>
              <a:gd fmla="val 13498" name="adj1"/>
              <a:gd fmla="val 25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27"/>
          <p:cNvCxnSpPr>
            <a:stCxn id="459" idx="2"/>
            <a:endCxn id="460" idx="3"/>
          </p:cNvCxnSpPr>
          <p:nvPr/>
        </p:nvCxnSpPr>
        <p:spPr>
          <a:xfrm rot="5400000">
            <a:off x="7344875" y="2450773"/>
            <a:ext cx="413400" cy="390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0" name="Google Shape;47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8"/>
          <p:cNvSpPr/>
          <p:nvPr/>
        </p:nvSpPr>
        <p:spPr>
          <a:xfrm>
            <a:off x="3692050" y="2139175"/>
            <a:ext cx="2981700" cy="2937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" name="Google Shape;476;p28"/>
          <p:cNvGraphicFramePr/>
          <p:nvPr/>
        </p:nvGraphicFramePr>
        <p:xfrm>
          <a:off x="3691938" y="152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PC01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0.0.0.0/0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7" name="Google Shape;4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3855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8"/>
          <p:cNvSpPr/>
          <p:nvPr/>
        </p:nvSpPr>
        <p:spPr>
          <a:xfrm>
            <a:off x="1188775" y="1219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28"/>
          <p:cNvCxnSpPr>
            <a:stCxn id="477" idx="2"/>
            <a:endCxn id="478" idx="3"/>
          </p:cNvCxnSpPr>
          <p:nvPr/>
        </p:nvCxnSpPr>
        <p:spPr>
          <a:xfrm>
            <a:off x="1989813" y="7648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80" name="Google Shape;4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3" y="137625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236692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2" name="Google Shape;482;p28"/>
          <p:cNvCxnSpPr>
            <a:stCxn id="480" idx="3"/>
            <a:endCxn id="478" idx="2"/>
          </p:cNvCxnSpPr>
          <p:nvPr/>
        </p:nvCxnSpPr>
        <p:spPr>
          <a:xfrm>
            <a:off x="694763" y="1565900"/>
            <a:ext cx="498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28"/>
          <p:cNvCxnSpPr>
            <a:stCxn id="478" idx="1"/>
            <a:endCxn id="481" idx="0"/>
          </p:cNvCxnSpPr>
          <p:nvPr/>
        </p:nvCxnSpPr>
        <p:spPr>
          <a:xfrm>
            <a:off x="1989811" y="1911467"/>
            <a:ext cx="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28"/>
          <p:cNvSpPr txBox="1"/>
          <p:nvPr/>
        </p:nvSpPr>
        <p:spPr>
          <a:xfrm>
            <a:off x="1989800" y="7648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"/>
          <p:cNvSpPr txBox="1"/>
          <p:nvPr/>
        </p:nvSpPr>
        <p:spPr>
          <a:xfrm>
            <a:off x="510400" y="12173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8"/>
          <p:cNvSpPr txBox="1"/>
          <p:nvPr/>
        </p:nvSpPr>
        <p:spPr>
          <a:xfrm>
            <a:off x="1989800" y="20732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2850475" y="409625"/>
            <a:ext cx="18789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ping 192.168.1.103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88" name="Google Shape;488;p28"/>
          <p:cNvCxnSpPr>
            <a:stCxn id="487" idx="1"/>
            <a:endCxn id="477" idx="3"/>
          </p:cNvCxnSpPr>
          <p:nvPr/>
        </p:nvCxnSpPr>
        <p:spPr>
          <a:xfrm rot="10800000">
            <a:off x="2179375" y="575225"/>
            <a:ext cx="671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9" name="Google Shape;489;p28"/>
          <p:cNvSpPr txBox="1"/>
          <p:nvPr/>
        </p:nvSpPr>
        <p:spPr>
          <a:xfrm>
            <a:off x="1699400" y="1329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8"/>
          <p:cNvSpPr txBox="1"/>
          <p:nvPr/>
        </p:nvSpPr>
        <p:spPr>
          <a:xfrm>
            <a:off x="214713" y="16845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8"/>
          <p:cNvSpPr txBox="1"/>
          <p:nvPr/>
        </p:nvSpPr>
        <p:spPr>
          <a:xfrm>
            <a:off x="1699413" y="26700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5806825" y="472250"/>
            <a:ext cx="18789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 </a:t>
            </a: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192.168.1.103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7026150" y="10585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8"/>
          <p:cNvSpPr txBox="1"/>
          <p:nvPr/>
        </p:nvSpPr>
        <p:spPr>
          <a:xfrm>
            <a:off x="4310200" y="1051225"/>
            <a:ext cx="27387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ruta en la tabla de encaminamiento al menos un prefijo que contenga la 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 txBox="1"/>
          <p:nvPr/>
        </p:nvSpPr>
        <p:spPr>
          <a:xfrm>
            <a:off x="2663300" y="1520638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100" y="1331513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7" name="Google Shape;497;p28"/>
          <p:cNvCxnSpPr>
            <a:stCxn id="478" idx="0"/>
            <a:endCxn id="496" idx="1"/>
          </p:cNvCxnSpPr>
          <p:nvPr/>
        </p:nvCxnSpPr>
        <p:spPr>
          <a:xfrm>
            <a:off x="2789512" y="1565902"/>
            <a:ext cx="394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28"/>
          <p:cNvSpPr txBox="1"/>
          <p:nvPr/>
        </p:nvSpPr>
        <p:spPr>
          <a:xfrm>
            <a:off x="3184175" y="1111225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" name="Google Shape;499;p28"/>
          <p:cNvCxnSpPr>
            <a:stCxn id="492" idx="2"/>
            <a:endCxn id="493" idx="0"/>
          </p:cNvCxnSpPr>
          <p:nvPr/>
        </p:nvCxnSpPr>
        <p:spPr>
          <a:xfrm flipH="1" rot="-5400000">
            <a:off x="6855325" y="656900"/>
            <a:ext cx="292500" cy="510600"/>
          </a:xfrm>
          <a:prstGeom prst="bentConnector3">
            <a:avLst>
              <a:gd fmla="val 5002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0" name="Google Shape;500;p28"/>
          <p:cNvCxnSpPr/>
          <p:nvPr/>
        </p:nvCxnSpPr>
        <p:spPr>
          <a:xfrm>
            <a:off x="3352350" y="2308725"/>
            <a:ext cx="339600" cy="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1" name="Google Shape;501;p28"/>
          <p:cNvCxnSpPr/>
          <p:nvPr/>
        </p:nvCxnSpPr>
        <p:spPr>
          <a:xfrm>
            <a:off x="3352350" y="2571750"/>
            <a:ext cx="339600" cy="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2" name="Google Shape;502;p28"/>
          <p:cNvSpPr txBox="1"/>
          <p:nvPr/>
        </p:nvSpPr>
        <p:spPr>
          <a:xfrm>
            <a:off x="510405" y="3266925"/>
            <a:ext cx="4065000" cy="7566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LONGEST PREFIX MATCHING (LPM)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tenemos más de un prefijo que contiene la IP destino se escoge como ruta aquella cuyo prefijo es más pequeño (longitud de máscara mayor)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6438438" y="3336225"/>
            <a:ext cx="2324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Enviar trama por interfaz de salida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7029188" y="18968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8"/>
          <p:cNvSpPr txBox="1"/>
          <p:nvPr/>
        </p:nvSpPr>
        <p:spPr>
          <a:xfrm>
            <a:off x="7508400" y="1910838"/>
            <a:ext cx="80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next hop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7026138" y="2729863"/>
            <a:ext cx="11487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NH=IP destino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8"/>
          <p:cNvSpPr txBox="1"/>
          <p:nvPr/>
        </p:nvSpPr>
        <p:spPr>
          <a:xfrm>
            <a:off x="7306513" y="2237325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" name="Google Shape;508;p28"/>
          <p:cNvCxnSpPr>
            <a:stCxn id="493" idx="2"/>
            <a:endCxn id="504" idx="0"/>
          </p:cNvCxnSpPr>
          <p:nvPr/>
        </p:nvCxnSpPr>
        <p:spPr>
          <a:xfrm>
            <a:off x="7257000" y="1513975"/>
            <a:ext cx="3000" cy="3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9" name="Google Shape;509;p28"/>
          <p:cNvCxnSpPr>
            <a:stCxn id="504" idx="2"/>
            <a:endCxn id="506" idx="0"/>
          </p:cNvCxnSpPr>
          <p:nvPr/>
        </p:nvCxnSpPr>
        <p:spPr>
          <a:xfrm flipH="1" rot="-5400000">
            <a:off x="7241438" y="2370875"/>
            <a:ext cx="377700" cy="3405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0" name="Google Shape;510;p28"/>
          <p:cNvCxnSpPr>
            <a:stCxn id="506" idx="2"/>
            <a:endCxn id="503" idx="0"/>
          </p:cNvCxnSpPr>
          <p:nvPr/>
        </p:nvCxnSpPr>
        <p:spPr>
          <a:xfrm>
            <a:off x="7600488" y="3023563"/>
            <a:ext cx="0" cy="3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1" name="Google Shape;51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3855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9"/>
          <p:cNvSpPr/>
          <p:nvPr/>
        </p:nvSpPr>
        <p:spPr>
          <a:xfrm>
            <a:off x="1188775" y="1219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29"/>
          <p:cNvCxnSpPr>
            <a:stCxn id="516" idx="2"/>
            <a:endCxn id="517" idx="3"/>
          </p:cNvCxnSpPr>
          <p:nvPr/>
        </p:nvCxnSpPr>
        <p:spPr>
          <a:xfrm>
            <a:off x="1989813" y="7648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19" name="Google Shape;5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3" y="137625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236692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1" name="Google Shape;521;p29"/>
          <p:cNvCxnSpPr>
            <a:stCxn id="519" idx="3"/>
            <a:endCxn id="517" idx="2"/>
          </p:cNvCxnSpPr>
          <p:nvPr/>
        </p:nvCxnSpPr>
        <p:spPr>
          <a:xfrm>
            <a:off x="694763" y="1565900"/>
            <a:ext cx="498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29"/>
          <p:cNvCxnSpPr>
            <a:stCxn id="517" idx="1"/>
            <a:endCxn id="520" idx="0"/>
          </p:cNvCxnSpPr>
          <p:nvPr/>
        </p:nvCxnSpPr>
        <p:spPr>
          <a:xfrm>
            <a:off x="1989811" y="1911467"/>
            <a:ext cx="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29"/>
          <p:cNvSpPr txBox="1"/>
          <p:nvPr/>
        </p:nvSpPr>
        <p:spPr>
          <a:xfrm>
            <a:off x="1989800" y="7648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9"/>
          <p:cNvSpPr txBox="1"/>
          <p:nvPr/>
        </p:nvSpPr>
        <p:spPr>
          <a:xfrm>
            <a:off x="510400" y="12173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1989800" y="20732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9"/>
          <p:cNvSpPr txBox="1"/>
          <p:nvPr/>
        </p:nvSpPr>
        <p:spPr>
          <a:xfrm>
            <a:off x="2850475" y="409625"/>
            <a:ext cx="18789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ping 192.168.2.201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27" name="Google Shape;527;p29"/>
          <p:cNvCxnSpPr>
            <a:stCxn id="526" idx="1"/>
            <a:endCxn id="516" idx="3"/>
          </p:cNvCxnSpPr>
          <p:nvPr/>
        </p:nvCxnSpPr>
        <p:spPr>
          <a:xfrm rot="10800000">
            <a:off x="2179375" y="575225"/>
            <a:ext cx="671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8" name="Google Shape;528;p29"/>
          <p:cNvSpPr txBox="1"/>
          <p:nvPr/>
        </p:nvSpPr>
        <p:spPr>
          <a:xfrm>
            <a:off x="1699400" y="1329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9"/>
          <p:cNvSpPr txBox="1"/>
          <p:nvPr/>
        </p:nvSpPr>
        <p:spPr>
          <a:xfrm>
            <a:off x="214713" y="16845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9"/>
          <p:cNvSpPr txBox="1"/>
          <p:nvPr/>
        </p:nvSpPr>
        <p:spPr>
          <a:xfrm>
            <a:off x="1699413" y="26700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9"/>
          <p:cNvSpPr/>
          <p:nvPr/>
        </p:nvSpPr>
        <p:spPr>
          <a:xfrm>
            <a:off x="6537550" y="471175"/>
            <a:ext cx="18789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 </a:t>
            </a: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192.168.2.201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9"/>
          <p:cNvSpPr/>
          <p:nvPr/>
        </p:nvSpPr>
        <p:spPr>
          <a:xfrm>
            <a:off x="7246150" y="10877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9"/>
          <p:cNvSpPr txBox="1"/>
          <p:nvPr/>
        </p:nvSpPr>
        <p:spPr>
          <a:xfrm>
            <a:off x="4615000" y="1051225"/>
            <a:ext cx="27387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ruta en la tabla de encaminamiento al menos un prefijo que contenga la 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9"/>
          <p:cNvSpPr txBox="1"/>
          <p:nvPr/>
        </p:nvSpPr>
        <p:spPr>
          <a:xfrm>
            <a:off x="2663300" y="1520638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100" y="1331513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6" name="Google Shape;536;p29"/>
          <p:cNvCxnSpPr>
            <a:stCxn id="517" idx="0"/>
            <a:endCxn id="535" idx="1"/>
          </p:cNvCxnSpPr>
          <p:nvPr/>
        </p:nvCxnSpPr>
        <p:spPr>
          <a:xfrm>
            <a:off x="2789512" y="1565902"/>
            <a:ext cx="394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29"/>
          <p:cNvSpPr txBox="1"/>
          <p:nvPr/>
        </p:nvSpPr>
        <p:spPr>
          <a:xfrm>
            <a:off x="3184175" y="1111225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8" name="Google Shape;538;p29"/>
          <p:cNvGraphicFramePr/>
          <p:nvPr/>
        </p:nvGraphicFramePr>
        <p:xfrm>
          <a:off x="3691938" y="152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PC01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0.0.0.0/0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39" name="Google Shape;539;p29"/>
          <p:cNvCxnSpPr/>
          <p:nvPr/>
        </p:nvCxnSpPr>
        <p:spPr>
          <a:xfrm>
            <a:off x="3352350" y="2571750"/>
            <a:ext cx="339600" cy="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0" name="Google Shape;540;p29"/>
          <p:cNvSpPr txBox="1"/>
          <p:nvPr/>
        </p:nvSpPr>
        <p:spPr>
          <a:xfrm>
            <a:off x="1770025" y="4189475"/>
            <a:ext cx="48762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29"/>
          <p:cNvCxnSpPr>
            <a:stCxn id="532" idx="2"/>
            <a:endCxn id="542" idx="0"/>
          </p:cNvCxnSpPr>
          <p:nvPr/>
        </p:nvCxnSpPr>
        <p:spPr>
          <a:xfrm>
            <a:off x="7477000" y="1543175"/>
            <a:ext cx="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3" name="Google Shape;543;p29"/>
          <p:cNvSpPr txBox="1"/>
          <p:nvPr/>
        </p:nvSpPr>
        <p:spPr>
          <a:xfrm>
            <a:off x="7174000" y="1645150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6281950" y="3051338"/>
            <a:ext cx="2390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NH=IP nh tabla de encaminamiento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p29"/>
          <p:cNvCxnSpPr>
            <a:stCxn id="542" idx="2"/>
            <a:endCxn id="544" idx="0"/>
          </p:cNvCxnSpPr>
          <p:nvPr/>
        </p:nvCxnSpPr>
        <p:spPr>
          <a:xfrm>
            <a:off x="7477000" y="2652725"/>
            <a:ext cx="0" cy="39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6" name="Google Shape;546;p29"/>
          <p:cNvSpPr/>
          <p:nvPr/>
        </p:nvSpPr>
        <p:spPr>
          <a:xfrm>
            <a:off x="6314950" y="3643850"/>
            <a:ext cx="2324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Enviar trama por interfaz de salida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29"/>
          <p:cNvCxnSpPr>
            <a:stCxn id="544" idx="2"/>
            <a:endCxn id="546" idx="0"/>
          </p:cNvCxnSpPr>
          <p:nvPr/>
        </p:nvCxnSpPr>
        <p:spPr>
          <a:xfrm>
            <a:off x="7477000" y="334503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48" name="Google Shape;548;p29"/>
          <p:cNvGraphicFramePr/>
          <p:nvPr/>
        </p:nvGraphicFramePr>
        <p:xfrm>
          <a:off x="940050" y="418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139950"/>
                <a:gridCol w="1139950"/>
                <a:gridCol w="1139950"/>
                <a:gridCol w="1139950"/>
                <a:gridCol w="1139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PC01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next hop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192.168.2.201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ICMP Request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cxnSp>
        <p:nvCxnSpPr>
          <p:cNvPr id="549" name="Google Shape;549;p29"/>
          <p:cNvCxnSpPr>
            <a:stCxn id="546" idx="2"/>
          </p:cNvCxnSpPr>
          <p:nvPr/>
        </p:nvCxnSpPr>
        <p:spPr>
          <a:xfrm rot="5400000">
            <a:off x="6833650" y="3750200"/>
            <a:ext cx="456000" cy="830700"/>
          </a:xfrm>
          <a:prstGeom prst="bentConnector2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42" name="Google Shape;542;p29"/>
          <p:cNvSpPr/>
          <p:nvPr/>
        </p:nvSpPr>
        <p:spPr>
          <a:xfrm>
            <a:off x="7246150" y="219732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9"/>
          <p:cNvSpPr txBox="1"/>
          <p:nvPr/>
        </p:nvSpPr>
        <p:spPr>
          <a:xfrm>
            <a:off x="7786163" y="2284775"/>
            <a:ext cx="80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next hop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9"/>
          <p:cNvSpPr txBox="1"/>
          <p:nvPr/>
        </p:nvSpPr>
        <p:spPr>
          <a:xfrm>
            <a:off x="7220500" y="2644500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29"/>
          <p:cNvCxnSpPr>
            <a:stCxn id="531" idx="2"/>
            <a:endCxn id="532" idx="0"/>
          </p:cNvCxnSpPr>
          <p:nvPr/>
        </p:nvCxnSpPr>
        <p:spPr>
          <a:xfrm>
            <a:off x="7477000" y="764875"/>
            <a:ext cx="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3" name="Google Shape;553;p29"/>
          <p:cNvCxnSpPr>
            <a:stCxn id="554" idx="2"/>
          </p:cNvCxnSpPr>
          <p:nvPr/>
        </p:nvCxnSpPr>
        <p:spPr>
          <a:xfrm>
            <a:off x="2682500" y="3843025"/>
            <a:ext cx="1500" cy="361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4" name="Google Shape;554;p29"/>
          <p:cNvSpPr txBox="1"/>
          <p:nvPr/>
        </p:nvSpPr>
        <p:spPr>
          <a:xfrm>
            <a:off x="527750" y="3549325"/>
            <a:ext cx="43095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ARP: MAC eth0 de R01 ← Who has 192.168.1.1? Tell 192.168.1.101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5" name="Google Shape;555;p29"/>
          <p:cNvCxnSpPr>
            <a:stCxn id="523" idx="2"/>
            <a:endCxn id="534" idx="0"/>
          </p:cNvCxnSpPr>
          <p:nvPr/>
        </p:nvCxnSpPr>
        <p:spPr>
          <a:xfrm flipH="1" rot="-5400000">
            <a:off x="2498000" y="984175"/>
            <a:ext cx="462000" cy="610800"/>
          </a:xfrm>
          <a:prstGeom prst="bentConnector3">
            <a:avLst>
              <a:gd fmla="val 34361" name="adj1"/>
            </a:avLst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56" name="Google Shape;55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3855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30"/>
          <p:cNvSpPr/>
          <p:nvPr/>
        </p:nvSpPr>
        <p:spPr>
          <a:xfrm>
            <a:off x="1188775" y="1219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p30"/>
          <p:cNvCxnSpPr>
            <a:stCxn id="561" idx="2"/>
            <a:endCxn id="562" idx="3"/>
          </p:cNvCxnSpPr>
          <p:nvPr/>
        </p:nvCxnSpPr>
        <p:spPr>
          <a:xfrm>
            <a:off x="1989813" y="7648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4" name="Google Shape;5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3" y="137625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236692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30"/>
          <p:cNvCxnSpPr>
            <a:stCxn id="564" idx="3"/>
            <a:endCxn id="562" idx="2"/>
          </p:cNvCxnSpPr>
          <p:nvPr/>
        </p:nvCxnSpPr>
        <p:spPr>
          <a:xfrm>
            <a:off x="694763" y="1565900"/>
            <a:ext cx="498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0"/>
          <p:cNvCxnSpPr>
            <a:stCxn id="562" idx="1"/>
            <a:endCxn id="565" idx="0"/>
          </p:cNvCxnSpPr>
          <p:nvPr/>
        </p:nvCxnSpPr>
        <p:spPr>
          <a:xfrm>
            <a:off x="1989811" y="1911467"/>
            <a:ext cx="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p30"/>
          <p:cNvSpPr txBox="1"/>
          <p:nvPr/>
        </p:nvSpPr>
        <p:spPr>
          <a:xfrm>
            <a:off x="1989800" y="7648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0"/>
          <p:cNvSpPr txBox="1"/>
          <p:nvPr/>
        </p:nvSpPr>
        <p:spPr>
          <a:xfrm>
            <a:off x="510400" y="12173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0"/>
          <p:cNvSpPr txBox="1"/>
          <p:nvPr/>
        </p:nvSpPr>
        <p:spPr>
          <a:xfrm>
            <a:off x="1989800" y="20732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0"/>
          <p:cNvSpPr txBox="1"/>
          <p:nvPr/>
        </p:nvSpPr>
        <p:spPr>
          <a:xfrm>
            <a:off x="2850475" y="409625"/>
            <a:ext cx="18789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ping 192.168.2.201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72" name="Google Shape;572;p30"/>
          <p:cNvCxnSpPr>
            <a:stCxn id="571" idx="1"/>
            <a:endCxn id="561" idx="3"/>
          </p:cNvCxnSpPr>
          <p:nvPr/>
        </p:nvCxnSpPr>
        <p:spPr>
          <a:xfrm rot="10800000">
            <a:off x="2179375" y="575225"/>
            <a:ext cx="671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3" name="Google Shape;573;p30"/>
          <p:cNvSpPr txBox="1"/>
          <p:nvPr/>
        </p:nvSpPr>
        <p:spPr>
          <a:xfrm>
            <a:off x="1699400" y="1329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0"/>
          <p:cNvSpPr txBox="1"/>
          <p:nvPr/>
        </p:nvSpPr>
        <p:spPr>
          <a:xfrm>
            <a:off x="214713" y="16845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0"/>
          <p:cNvSpPr txBox="1"/>
          <p:nvPr/>
        </p:nvSpPr>
        <p:spPr>
          <a:xfrm>
            <a:off x="1699413" y="26700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0"/>
          <p:cNvSpPr txBox="1"/>
          <p:nvPr/>
        </p:nvSpPr>
        <p:spPr>
          <a:xfrm>
            <a:off x="2663300" y="1520638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7" name="Google Shape;57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100" y="1331513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" name="Google Shape;578;p30"/>
          <p:cNvCxnSpPr>
            <a:stCxn id="562" idx="0"/>
            <a:endCxn id="577" idx="1"/>
          </p:cNvCxnSpPr>
          <p:nvPr/>
        </p:nvCxnSpPr>
        <p:spPr>
          <a:xfrm>
            <a:off x="2789512" y="1565902"/>
            <a:ext cx="394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30"/>
          <p:cNvSpPr txBox="1"/>
          <p:nvPr/>
        </p:nvSpPr>
        <p:spPr>
          <a:xfrm>
            <a:off x="3184175" y="1111225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30"/>
          <p:cNvCxnSpPr>
            <a:stCxn id="568" idx="2"/>
            <a:endCxn id="576" idx="0"/>
          </p:cNvCxnSpPr>
          <p:nvPr/>
        </p:nvCxnSpPr>
        <p:spPr>
          <a:xfrm flipH="1" rot="-5400000">
            <a:off x="2498000" y="984175"/>
            <a:ext cx="462000" cy="610800"/>
          </a:xfrm>
          <a:prstGeom prst="bentConnector3">
            <a:avLst>
              <a:gd fmla="val 34361" name="adj1"/>
            </a:avLst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581" name="Google Shape;581;p30"/>
          <p:cNvGraphicFramePr/>
          <p:nvPr/>
        </p:nvGraphicFramePr>
        <p:xfrm>
          <a:off x="359375" y="338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139950"/>
                <a:gridCol w="1139950"/>
                <a:gridCol w="1139950"/>
                <a:gridCol w="1139950"/>
                <a:gridCol w="1139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PC01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R01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192.168.2.201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ICMP Request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2" name="Google Shape;582;p30"/>
          <p:cNvGraphicFramePr/>
          <p:nvPr/>
        </p:nvGraphicFramePr>
        <p:xfrm>
          <a:off x="2850475" y="194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3" name="Google Shape;583;p30"/>
          <p:cNvSpPr/>
          <p:nvPr/>
        </p:nvSpPr>
        <p:spPr>
          <a:xfrm>
            <a:off x="5806825" y="472250"/>
            <a:ext cx="18789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 </a:t>
            </a: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192.168.2.201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0"/>
          <p:cNvSpPr/>
          <p:nvPr/>
        </p:nvSpPr>
        <p:spPr>
          <a:xfrm>
            <a:off x="6515425" y="10585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0"/>
          <p:cNvSpPr txBox="1"/>
          <p:nvPr/>
        </p:nvSpPr>
        <p:spPr>
          <a:xfrm>
            <a:off x="3776800" y="1051225"/>
            <a:ext cx="27387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ruta en la tabla de encaminamiento al menos un prefijo que contenga la 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6" name="Google Shape;586;p30"/>
          <p:cNvCxnSpPr>
            <a:stCxn id="583" idx="2"/>
            <a:endCxn id="584" idx="0"/>
          </p:cNvCxnSpPr>
          <p:nvPr/>
        </p:nvCxnSpPr>
        <p:spPr>
          <a:xfrm>
            <a:off x="6746275" y="765950"/>
            <a:ext cx="0" cy="2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7" name="Google Shape;587;p30"/>
          <p:cNvSpPr/>
          <p:nvPr/>
        </p:nvSpPr>
        <p:spPr>
          <a:xfrm>
            <a:off x="7428425" y="1139425"/>
            <a:ext cx="14427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Paquete descartado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30"/>
          <p:cNvCxnSpPr>
            <a:stCxn id="584" idx="3"/>
            <a:endCxn id="587" idx="1"/>
          </p:cNvCxnSpPr>
          <p:nvPr/>
        </p:nvCxnSpPr>
        <p:spPr>
          <a:xfrm>
            <a:off x="6977125" y="1286275"/>
            <a:ext cx="45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9" name="Google Shape;589;p30"/>
          <p:cNvSpPr txBox="1"/>
          <p:nvPr/>
        </p:nvSpPr>
        <p:spPr>
          <a:xfrm>
            <a:off x="6977125" y="982375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1"/>
          <p:cNvSpPr txBox="1"/>
          <p:nvPr/>
        </p:nvSpPr>
        <p:spPr>
          <a:xfrm>
            <a:off x="2590975" y="14135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1"/>
          <p:cNvSpPr txBox="1"/>
          <p:nvPr/>
        </p:nvSpPr>
        <p:spPr>
          <a:xfrm>
            <a:off x="3426550" y="14135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1"/>
          <p:cNvSpPr txBox="1"/>
          <p:nvPr/>
        </p:nvSpPr>
        <p:spPr>
          <a:xfrm>
            <a:off x="4991825" y="14135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1"/>
          <p:cNvSpPr txBox="1"/>
          <p:nvPr/>
        </p:nvSpPr>
        <p:spPr>
          <a:xfrm>
            <a:off x="5695063" y="14135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163" y="2331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1"/>
          <p:cNvSpPr/>
          <p:nvPr/>
        </p:nvSpPr>
        <p:spPr>
          <a:xfrm>
            <a:off x="1188775" y="10672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1" name="Google Shape;601;p31"/>
          <p:cNvCxnSpPr>
            <a:stCxn id="599" idx="2"/>
            <a:endCxn id="600" idx="3"/>
          </p:cNvCxnSpPr>
          <p:nvPr/>
        </p:nvCxnSpPr>
        <p:spPr>
          <a:xfrm>
            <a:off x="1989813" y="6124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02" name="Google Shape;6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3" y="122385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563" y="221452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4" name="Google Shape;604;p31"/>
          <p:cNvCxnSpPr>
            <a:stCxn id="602" idx="3"/>
            <a:endCxn id="600" idx="2"/>
          </p:cNvCxnSpPr>
          <p:nvPr/>
        </p:nvCxnSpPr>
        <p:spPr>
          <a:xfrm>
            <a:off x="694763" y="1413500"/>
            <a:ext cx="498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31"/>
          <p:cNvCxnSpPr>
            <a:stCxn id="600" idx="1"/>
            <a:endCxn id="603" idx="0"/>
          </p:cNvCxnSpPr>
          <p:nvPr/>
        </p:nvCxnSpPr>
        <p:spPr>
          <a:xfrm flipH="1">
            <a:off x="999211" y="1759067"/>
            <a:ext cx="99060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6" name="Google Shape;606;p31"/>
          <p:cNvSpPr txBox="1"/>
          <p:nvPr/>
        </p:nvSpPr>
        <p:spPr>
          <a:xfrm>
            <a:off x="1989800" y="6124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1"/>
          <p:cNvSpPr txBox="1"/>
          <p:nvPr/>
        </p:nvSpPr>
        <p:spPr>
          <a:xfrm>
            <a:off x="510400" y="10649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1"/>
          <p:cNvSpPr txBox="1"/>
          <p:nvPr/>
        </p:nvSpPr>
        <p:spPr>
          <a:xfrm>
            <a:off x="389600" y="19208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1"/>
          <p:cNvSpPr txBox="1"/>
          <p:nvPr/>
        </p:nvSpPr>
        <p:spPr>
          <a:xfrm>
            <a:off x="1699400" y="-194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1"/>
          <p:cNvSpPr txBox="1"/>
          <p:nvPr/>
        </p:nvSpPr>
        <p:spPr>
          <a:xfrm>
            <a:off x="214713" y="15321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1"/>
          <p:cNvSpPr txBox="1"/>
          <p:nvPr/>
        </p:nvSpPr>
        <p:spPr>
          <a:xfrm>
            <a:off x="708813" y="251767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6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5125" y="1179125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3" name="Google Shape;613;p31"/>
          <p:cNvCxnSpPr>
            <a:endCxn id="612" idx="1"/>
          </p:cNvCxnSpPr>
          <p:nvPr/>
        </p:nvCxnSpPr>
        <p:spPr>
          <a:xfrm>
            <a:off x="2789525" y="1413500"/>
            <a:ext cx="40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14" name="Google Shape;61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8563" y="25072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1"/>
          <p:cNvSpPr/>
          <p:nvPr/>
        </p:nvSpPr>
        <p:spPr>
          <a:xfrm>
            <a:off x="6497175" y="108475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31"/>
          <p:cNvCxnSpPr>
            <a:stCxn id="614" idx="2"/>
            <a:endCxn id="615" idx="3"/>
          </p:cNvCxnSpPr>
          <p:nvPr/>
        </p:nvCxnSpPr>
        <p:spPr>
          <a:xfrm>
            <a:off x="7298213" y="63002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17" name="Google Shape;6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4275" y="1241400"/>
            <a:ext cx="379300" cy="3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5363" y="223207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9" name="Google Shape;619;p31"/>
          <p:cNvCxnSpPr>
            <a:stCxn id="615" idx="1"/>
            <a:endCxn id="618" idx="0"/>
          </p:cNvCxnSpPr>
          <p:nvPr/>
        </p:nvCxnSpPr>
        <p:spPr>
          <a:xfrm>
            <a:off x="7298211" y="1776617"/>
            <a:ext cx="1066800" cy="4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31"/>
          <p:cNvSpPr txBox="1"/>
          <p:nvPr/>
        </p:nvSpPr>
        <p:spPr>
          <a:xfrm>
            <a:off x="7298200" y="6300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192.168.2.201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1"/>
          <p:cNvSpPr txBox="1"/>
          <p:nvPr/>
        </p:nvSpPr>
        <p:spPr>
          <a:xfrm>
            <a:off x="7952400" y="10824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192.168.2.202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1"/>
          <p:cNvSpPr txBox="1"/>
          <p:nvPr/>
        </p:nvSpPr>
        <p:spPr>
          <a:xfrm>
            <a:off x="8136400" y="19383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192.168.2.203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1"/>
          <p:cNvSpPr txBox="1"/>
          <p:nvPr/>
        </p:nvSpPr>
        <p:spPr>
          <a:xfrm>
            <a:off x="7007800" y="-19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PC04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1"/>
          <p:cNvSpPr txBox="1"/>
          <p:nvPr/>
        </p:nvSpPr>
        <p:spPr>
          <a:xfrm>
            <a:off x="8503513" y="15145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PC05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1"/>
          <p:cNvSpPr txBox="1"/>
          <p:nvPr/>
        </p:nvSpPr>
        <p:spPr>
          <a:xfrm>
            <a:off x="8074613" y="25352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PC06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6" name="Google Shape;626;p31"/>
          <p:cNvCxnSpPr>
            <a:endCxn id="617" idx="1"/>
          </p:cNvCxnSpPr>
          <p:nvPr/>
        </p:nvCxnSpPr>
        <p:spPr>
          <a:xfrm>
            <a:off x="8097875" y="1431050"/>
            <a:ext cx="50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27" name="Google Shape;62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1000" y="1196675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8" name="Google Shape;628;p31"/>
          <p:cNvCxnSpPr>
            <a:stCxn id="627" idx="3"/>
            <a:endCxn id="615" idx="2"/>
          </p:cNvCxnSpPr>
          <p:nvPr/>
        </p:nvCxnSpPr>
        <p:spPr>
          <a:xfrm>
            <a:off x="5949750" y="1431050"/>
            <a:ext cx="552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31"/>
          <p:cNvCxnSpPr>
            <a:endCxn id="627" idx="1"/>
          </p:cNvCxnSpPr>
          <p:nvPr/>
        </p:nvCxnSpPr>
        <p:spPr>
          <a:xfrm>
            <a:off x="3637800" y="1413350"/>
            <a:ext cx="1843200" cy="1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0" name="Google Shape;630;p31"/>
          <p:cNvSpPr txBox="1"/>
          <p:nvPr/>
        </p:nvSpPr>
        <p:spPr>
          <a:xfrm>
            <a:off x="4035988" y="11244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1"/>
          <p:cNvSpPr txBox="1"/>
          <p:nvPr/>
        </p:nvSpPr>
        <p:spPr>
          <a:xfrm>
            <a:off x="3227975" y="947700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1"/>
          <p:cNvSpPr txBox="1"/>
          <p:nvPr/>
        </p:nvSpPr>
        <p:spPr>
          <a:xfrm>
            <a:off x="5466075" y="947688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1"/>
          <p:cNvSpPr/>
          <p:nvPr/>
        </p:nvSpPr>
        <p:spPr>
          <a:xfrm>
            <a:off x="3414125" y="568475"/>
            <a:ext cx="3435000" cy="37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Hay un camino a 192.168.2.0/24 a través de 10.0.0.2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1"/>
          <p:cNvSpPr txBox="1"/>
          <p:nvPr/>
        </p:nvSpPr>
        <p:spPr>
          <a:xfrm>
            <a:off x="2857405" y="1891025"/>
            <a:ext cx="4065000" cy="7566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los routers no se le configuran rutas por defecto.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bien se le configuran explícitamente rutas (rutas estáticas), o bien aprenden a llegar intercambiando información con otros routers (protocolos de encaminamiento)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1"/>
          <p:cNvSpPr txBox="1"/>
          <p:nvPr/>
        </p:nvSpPr>
        <p:spPr>
          <a:xfrm>
            <a:off x="3038000" y="2745950"/>
            <a:ext cx="37038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R01# ip route 192.168.2.0/24 10.0.0.2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6" name="Google Shape;636;p31"/>
          <p:cNvSpPr/>
          <p:nvPr/>
        </p:nvSpPr>
        <p:spPr>
          <a:xfrm>
            <a:off x="5713700" y="2792625"/>
            <a:ext cx="951900" cy="2739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1"/>
          <p:cNvSpPr txBox="1"/>
          <p:nvPr/>
        </p:nvSpPr>
        <p:spPr>
          <a:xfrm>
            <a:off x="6849125" y="3210275"/>
            <a:ext cx="1940700" cy="2937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hop de la ruta al prefijo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8" name="Google Shape;638;p31"/>
          <p:cNvCxnSpPr>
            <a:stCxn id="637" idx="1"/>
            <a:endCxn id="636" idx="4"/>
          </p:cNvCxnSpPr>
          <p:nvPr/>
        </p:nvCxnSpPr>
        <p:spPr>
          <a:xfrm rot="10800000">
            <a:off x="6189725" y="3066425"/>
            <a:ext cx="659400" cy="290700"/>
          </a:xfrm>
          <a:prstGeom prst="bentConnector2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639" name="Google Shape;639;p31"/>
          <p:cNvSpPr/>
          <p:nvPr/>
        </p:nvSpPr>
        <p:spPr>
          <a:xfrm>
            <a:off x="4365900" y="2792625"/>
            <a:ext cx="1385700" cy="2739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1"/>
          <p:cNvSpPr txBox="1"/>
          <p:nvPr/>
        </p:nvSpPr>
        <p:spPr>
          <a:xfrm>
            <a:off x="1870400" y="4079488"/>
            <a:ext cx="1329000" cy="3312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Prefijo de la ruta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1" name="Google Shape;641;p31"/>
          <p:cNvCxnSpPr>
            <a:stCxn id="640" idx="0"/>
            <a:endCxn id="639" idx="4"/>
          </p:cNvCxnSpPr>
          <p:nvPr/>
        </p:nvCxnSpPr>
        <p:spPr>
          <a:xfrm rot="-5400000">
            <a:off x="3290300" y="2310988"/>
            <a:ext cx="1013100" cy="2523900"/>
          </a:xfrm>
          <a:prstGeom prst="bentConnector3">
            <a:avLst>
              <a:gd fmla="val 69819" name="adj1"/>
            </a:avLst>
          </a:prstGeom>
          <a:noFill/>
          <a:ln cap="flat" cmpd="sng" w="19050">
            <a:solidFill>
              <a:srgbClr val="4A86E8"/>
            </a:solidFill>
            <a:prstDash val="dash"/>
            <a:round/>
            <a:headEnd len="sm" w="sm" type="none"/>
            <a:tailEnd len="med" w="med" type="triangle"/>
          </a:ln>
        </p:spPr>
      </p:cxnSp>
      <p:graphicFrame>
        <p:nvGraphicFramePr>
          <p:cNvPr id="642" name="Google Shape;642;p31"/>
          <p:cNvGraphicFramePr/>
          <p:nvPr/>
        </p:nvGraphicFramePr>
        <p:xfrm>
          <a:off x="3399013" y="347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10.0.0.2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eth1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3" name="Google Shape;6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44" name="Google Shape;644;p31"/>
          <p:cNvSpPr txBox="1"/>
          <p:nvPr/>
        </p:nvSpPr>
        <p:spPr>
          <a:xfrm>
            <a:off x="106375" y="2866675"/>
            <a:ext cx="2356200" cy="6117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Configuraremos rutas estáticas con QUAGGA (software emulación router CISCO)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31"/>
          <p:cNvCxnSpPr>
            <a:stCxn id="644" idx="3"/>
            <a:endCxn id="635" idx="1"/>
          </p:cNvCxnSpPr>
          <p:nvPr/>
        </p:nvCxnSpPr>
        <p:spPr>
          <a:xfrm flipH="1" rot="10800000">
            <a:off x="2462575" y="2911525"/>
            <a:ext cx="575400" cy="2610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363" y="385575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2"/>
          <p:cNvSpPr/>
          <p:nvPr/>
        </p:nvSpPr>
        <p:spPr>
          <a:xfrm>
            <a:off x="121975" y="1219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2" name="Google Shape;652;p32"/>
          <p:cNvCxnSpPr>
            <a:stCxn id="650" idx="2"/>
            <a:endCxn id="651" idx="3"/>
          </p:cNvCxnSpPr>
          <p:nvPr/>
        </p:nvCxnSpPr>
        <p:spPr>
          <a:xfrm>
            <a:off x="923013" y="764875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32"/>
          <p:cNvSpPr txBox="1"/>
          <p:nvPr/>
        </p:nvSpPr>
        <p:spPr>
          <a:xfrm>
            <a:off x="923000" y="7648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2"/>
          <p:cNvSpPr txBox="1"/>
          <p:nvPr/>
        </p:nvSpPr>
        <p:spPr>
          <a:xfrm>
            <a:off x="1783675" y="409625"/>
            <a:ext cx="1878900" cy="33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ping 192.168.2.201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55" name="Google Shape;655;p32"/>
          <p:cNvCxnSpPr>
            <a:stCxn id="654" idx="1"/>
            <a:endCxn id="650" idx="3"/>
          </p:cNvCxnSpPr>
          <p:nvPr/>
        </p:nvCxnSpPr>
        <p:spPr>
          <a:xfrm rot="10800000">
            <a:off x="1112575" y="575225"/>
            <a:ext cx="671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6" name="Google Shape;656;p32"/>
          <p:cNvSpPr txBox="1"/>
          <p:nvPr/>
        </p:nvSpPr>
        <p:spPr>
          <a:xfrm>
            <a:off x="632600" y="132925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2"/>
          <p:cNvSpPr txBox="1"/>
          <p:nvPr/>
        </p:nvSpPr>
        <p:spPr>
          <a:xfrm>
            <a:off x="1596500" y="1520638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8" name="Google Shape;65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7300" y="1331519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9" name="Google Shape;659;p32"/>
          <p:cNvCxnSpPr>
            <a:stCxn id="651" idx="0"/>
            <a:endCxn id="658" idx="1"/>
          </p:cNvCxnSpPr>
          <p:nvPr/>
        </p:nvCxnSpPr>
        <p:spPr>
          <a:xfrm>
            <a:off x="1722712" y="1565902"/>
            <a:ext cx="394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0" name="Google Shape;660;p32"/>
          <p:cNvSpPr txBox="1"/>
          <p:nvPr/>
        </p:nvSpPr>
        <p:spPr>
          <a:xfrm>
            <a:off x="2117375" y="1111225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1" name="Google Shape;661;p32"/>
          <p:cNvCxnSpPr>
            <a:stCxn id="660" idx="3"/>
            <a:endCxn id="662" idx="1"/>
          </p:cNvCxnSpPr>
          <p:nvPr/>
        </p:nvCxnSpPr>
        <p:spPr>
          <a:xfrm>
            <a:off x="2585975" y="1258075"/>
            <a:ext cx="1407600" cy="600"/>
          </a:xfrm>
          <a:prstGeom prst="bentConnector3">
            <a:avLst>
              <a:gd fmla="val 50004" name="adj1"/>
            </a:avLst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63" name="Google Shape;66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64" name="Google Shape;664;p32"/>
          <p:cNvSpPr txBox="1"/>
          <p:nvPr/>
        </p:nvSpPr>
        <p:spPr>
          <a:xfrm>
            <a:off x="2373375" y="1502625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2"/>
          <p:cNvSpPr txBox="1"/>
          <p:nvPr/>
        </p:nvSpPr>
        <p:spPr>
          <a:xfrm>
            <a:off x="3521050" y="152065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2"/>
          <p:cNvSpPr txBox="1"/>
          <p:nvPr/>
        </p:nvSpPr>
        <p:spPr>
          <a:xfrm>
            <a:off x="4195588" y="152065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2"/>
          <p:cNvSpPr/>
          <p:nvPr/>
        </p:nvSpPr>
        <p:spPr>
          <a:xfrm>
            <a:off x="5490050" y="1219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8" name="Google Shape;668;p32"/>
          <p:cNvCxnSpPr>
            <a:stCxn id="669" idx="3"/>
            <a:endCxn id="667" idx="2"/>
          </p:cNvCxnSpPr>
          <p:nvPr/>
        </p:nvCxnSpPr>
        <p:spPr>
          <a:xfrm>
            <a:off x="4462550" y="1565894"/>
            <a:ext cx="103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p32"/>
          <p:cNvCxnSpPr>
            <a:stCxn id="658" idx="3"/>
            <a:endCxn id="669" idx="1"/>
          </p:cNvCxnSpPr>
          <p:nvPr/>
        </p:nvCxnSpPr>
        <p:spPr>
          <a:xfrm>
            <a:off x="2586050" y="1565894"/>
            <a:ext cx="140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1" name="Google Shape;671;p32"/>
          <p:cNvSpPr txBox="1"/>
          <p:nvPr/>
        </p:nvSpPr>
        <p:spPr>
          <a:xfrm>
            <a:off x="2856075" y="12592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2"/>
          <p:cNvSpPr txBox="1"/>
          <p:nvPr/>
        </p:nvSpPr>
        <p:spPr>
          <a:xfrm>
            <a:off x="3993700" y="1111213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9" name="Google Shape;66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3800" y="1331519"/>
            <a:ext cx="468750" cy="468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2" name="Google Shape;672;p32"/>
          <p:cNvGraphicFramePr/>
          <p:nvPr/>
        </p:nvGraphicFramePr>
        <p:xfrm>
          <a:off x="171300" y="207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10.0.0.2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eth1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3" name="Google Shape;673;p32"/>
          <p:cNvSpPr/>
          <p:nvPr/>
        </p:nvSpPr>
        <p:spPr>
          <a:xfrm>
            <a:off x="5415050" y="2071425"/>
            <a:ext cx="18789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 </a:t>
            </a: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192.168.2.201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2"/>
          <p:cNvSpPr/>
          <p:nvPr/>
        </p:nvSpPr>
        <p:spPr>
          <a:xfrm>
            <a:off x="6123650" y="2657750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2"/>
          <p:cNvSpPr txBox="1"/>
          <p:nvPr/>
        </p:nvSpPr>
        <p:spPr>
          <a:xfrm>
            <a:off x="3385025" y="2650400"/>
            <a:ext cx="27387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ruta en la tabla de encaminamiento al menos un prefijo que contenga la 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32"/>
          <p:cNvCxnSpPr>
            <a:stCxn id="673" idx="2"/>
            <a:endCxn id="674" idx="0"/>
          </p:cNvCxnSpPr>
          <p:nvPr/>
        </p:nvCxnSpPr>
        <p:spPr>
          <a:xfrm>
            <a:off x="6354500" y="2365125"/>
            <a:ext cx="0" cy="2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7" name="Google Shape;677;p32"/>
          <p:cNvCxnSpPr/>
          <p:nvPr/>
        </p:nvCxnSpPr>
        <p:spPr>
          <a:xfrm flipH="1">
            <a:off x="3181450" y="3453275"/>
            <a:ext cx="339600" cy="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8" name="Google Shape;678;p32"/>
          <p:cNvCxnSpPr>
            <a:stCxn id="674" idx="3"/>
            <a:endCxn id="679" idx="1"/>
          </p:cNvCxnSpPr>
          <p:nvPr/>
        </p:nvCxnSpPr>
        <p:spPr>
          <a:xfrm>
            <a:off x="6585350" y="2885450"/>
            <a:ext cx="33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0" name="Google Shape;680;p32"/>
          <p:cNvSpPr txBox="1"/>
          <p:nvPr/>
        </p:nvSpPr>
        <p:spPr>
          <a:xfrm>
            <a:off x="6562463" y="2630738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2"/>
          <p:cNvSpPr/>
          <p:nvPr/>
        </p:nvSpPr>
        <p:spPr>
          <a:xfrm>
            <a:off x="5956675" y="3362600"/>
            <a:ext cx="2390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NH=IP nh tabla de encaminamiento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2" name="Google Shape;682;p32"/>
          <p:cNvCxnSpPr>
            <a:stCxn id="679" idx="2"/>
            <a:endCxn id="681" idx="0"/>
          </p:cNvCxnSpPr>
          <p:nvPr/>
        </p:nvCxnSpPr>
        <p:spPr>
          <a:xfrm>
            <a:off x="7151725" y="3113138"/>
            <a:ext cx="0" cy="2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3" name="Google Shape;683;p32"/>
          <p:cNvSpPr/>
          <p:nvPr/>
        </p:nvSpPr>
        <p:spPr>
          <a:xfrm>
            <a:off x="5989675" y="3898388"/>
            <a:ext cx="2324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Enviar trama por interfaz de salida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32"/>
          <p:cNvCxnSpPr>
            <a:stCxn id="681" idx="2"/>
            <a:endCxn id="683" idx="0"/>
          </p:cNvCxnSpPr>
          <p:nvPr/>
        </p:nvCxnSpPr>
        <p:spPr>
          <a:xfrm>
            <a:off x="7151725" y="3656300"/>
            <a:ext cx="0" cy="2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85" name="Google Shape;685;p32"/>
          <p:cNvGraphicFramePr/>
          <p:nvPr/>
        </p:nvGraphicFramePr>
        <p:xfrm>
          <a:off x="534275" y="438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139950"/>
                <a:gridCol w="1139950"/>
                <a:gridCol w="1139950"/>
                <a:gridCol w="1139950"/>
                <a:gridCol w="1139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eth1 R01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eth1 R02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192.168.2.201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ICMP Request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cxnSp>
        <p:nvCxnSpPr>
          <p:cNvPr id="686" name="Google Shape;686;p32"/>
          <p:cNvCxnSpPr>
            <a:stCxn id="683" idx="2"/>
          </p:cNvCxnSpPr>
          <p:nvPr/>
        </p:nvCxnSpPr>
        <p:spPr>
          <a:xfrm rot="5400000">
            <a:off x="6508375" y="4004738"/>
            <a:ext cx="456000" cy="830700"/>
          </a:xfrm>
          <a:prstGeom prst="bentConnector2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679" name="Google Shape;679;p32"/>
          <p:cNvSpPr/>
          <p:nvPr/>
        </p:nvSpPr>
        <p:spPr>
          <a:xfrm>
            <a:off x="6920875" y="2657738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2"/>
          <p:cNvSpPr txBox="1"/>
          <p:nvPr/>
        </p:nvSpPr>
        <p:spPr>
          <a:xfrm>
            <a:off x="7382688" y="2745200"/>
            <a:ext cx="80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next hop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2"/>
          <p:cNvSpPr txBox="1"/>
          <p:nvPr/>
        </p:nvSpPr>
        <p:spPr>
          <a:xfrm>
            <a:off x="7151725" y="3110600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9" name="Google Shape;689;p32"/>
          <p:cNvCxnSpPr>
            <a:stCxn id="690" idx="2"/>
          </p:cNvCxnSpPr>
          <p:nvPr/>
        </p:nvCxnSpPr>
        <p:spPr>
          <a:xfrm>
            <a:off x="2251025" y="4011200"/>
            <a:ext cx="1500" cy="361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0" name="Google Shape;690;p32"/>
          <p:cNvSpPr txBox="1"/>
          <p:nvPr/>
        </p:nvSpPr>
        <p:spPr>
          <a:xfrm>
            <a:off x="96275" y="3717500"/>
            <a:ext cx="43095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ARP: MAC eth0 de R02 ← Who has 10.0.0.2? Tell 10.0.0.1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638" y="1530375"/>
            <a:ext cx="379300" cy="37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6" name="Google Shape;696;p33"/>
          <p:cNvCxnSpPr>
            <a:stCxn id="695" idx="2"/>
            <a:endCxn id="697" idx="3"/>
          </p:cNvCxnSpPr>
          <p:nvPr/>
        </p:nvCxnSpPr>
        <p:spPr>
          <a:xfrm>
            <a:off x="4462288" y="1909675"/>
            <a:ext cx="0" cy="49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8" name="Google Shape;698;p33"/>
          <p:cNvSpPr txBox="1"/>
          <p:nvPr/>
        </p:nvSpPr>
        <p:spPr>
          <a:xfrm>
            <a:off x="3703325" y="1868200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192.168.2.201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3"/>
          <p:cNvSpPr txBox="1"/>
          <p:nvPr/>
        </p:nvSpPr>
        <p:spPr>
          <a:xfrm>
            <a:off x="4171863" y="12274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PC04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0" name="Google Shape;70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500" y="2474519"/>
            <a:ext cx="468750" cy="4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3"/>
          <p:cNvSpPr txBox="1"/>
          <p:nvPr/>
        </p:nvSpPr>
        <p:spPr>
          <a:xfrm>
            <a:off x="288575" y="2254225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03" name="Google Shape;703;p33"/>
          <p:cNvSpPr txBox="1"/>
          <p:nvPr/>
        </p:nvSpPr>
        <p:spPr>
          <a:xfrm>
            <a:off x="544575" y="2645625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3"/>
          <p:cNvSpPr txBox="1"/>
          <p:nvPr/>
        </p:nvSpPr>
        <p:spPr>
          <a:xfrm>
            <a:off x="1692250" y="266365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3"/>
          <p:cNvSpPr txBox="1"/>
          <p:nvPr/>
        </p:nvSpPr>
        <p:spPr>
          <a:xfrm>
            <a:off x="2366788" y="266365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3"/>
          <p:cNvSpPr/>
          <p:nvPr/>
        </p:nvSpPr>
        <p:spPr>
          <a:xfrm>
            <a:off x="3661250" y="23626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6" name="Google Shape;706;p33"/>
          <p:cNvCxnSpPr>
            <a:stCxn id="707" idx="3"/>
            <a:endCxn id="697" idx="2"/>
          </p:cNvCxnSpPr>
          <p:nvPr/>
        </p:nvCxnSpPr>
        <p:spPr>
          <a:xfrm>
            <a:off x="2633750" y="2708894"/>
            <a:ext cx="103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33"/>
          <p:cNvCxnSpPr>
            <a:stCxn id="700" idx="3"/>
            <a:endCxn id="707" idx="1"/>
          </p:cNvCxnSpPr>
          <p:nvPr/>
        </p:nvCxnSpPr>
        <p:spPr>
          <a:xfrm>
            <a:off x="757250" y="2708894"/>
            <a:ext cx="140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9" name="Google Shape;709;p33"/>
          <p:cNvSpPr txBox="1"/>
          <p:nvPr/>
        </p:nvSpPr>
        <p:spPr>
          <a:xfrm>
            <a:off x="1027275" y="240227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3"/>
          <p:cNvSpPr txBox="1"/>
          <p:nvPr/>
        </p:nvSpPr>
        <p:spPr>
          <a:xfrm>
            <a:off x="2164900" y="2254213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7" name="Google Shape;70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5000" y="2474519"/>
            <a:ext cx="468750" cy="4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33"/>
          <p:cNvSpPr/>
          <p:nvPr/>
        </p:nvSpPr>
        <p:spPr>
          <a:xfrm>
            <a:off x="6625825" y="317075"/>
            <a:ext cx="18789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destino </a:t>
            </a: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192.168.2.201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7334425" y="1033250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3"/>
          <p:cNvSpPr txBox="1"/>
          <p:nvPr/>
        </p:nvSpPr>
        <p:spPr>
          <a:xfrm>
            <a:off x="4739250" y="1025888"/>
            <a:ext cx="27387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ruta en la tabla de encaminamiento al menos un prefijo que contenga la IP destino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p33"/>
          <p:cNvCxnSpPr>
            <a:stCxn id="711" idx="2"/>
            <a:endCxn id="712" idx="0"/>
          </p:cNvCxnSpPr>
          <p:nvPr/>
        </p:nvCxnSpPr>
        <p:spPr>
          <a:xfrm>
            <a:off x="7565275" y="610775"/>
            <a:ext cx="0" cy="42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5" name="Google Shape;715;p33"/>
          <p:cNvCxnSpPr>
            <a:stCxn id="712" idx="2"/>
            <a:endCxn id="716" idx="0"/>
          </p:cNvCxnSpPr>
          <p:nvPr/>
        </p:nvCxnSpPr>
        <p:spPr>
          <a:xfrm>
            <a:off x="7565275" y="1488650"/>
            <a:ext cx="0" cy="49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7" name="Google Shape;717;p33"/>
          <p:cNvSpPr txBox="1"/>
          <p:nvPr/>
        </p:nvSpPr>
        <p:spPr>
          <a:xfrm>
            <a:off x="7245013" y="1569013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8" name="Google Shape;718;p33"/>
          <p:cNvCxnSpPr>
            <a:stCxn id="716" idx="2"/>
            <a:endCxn id="719" idx="0"/>
          </p:cNvCxnSpPr>
          <p:nvPr/>
        </p:nvCxnSpPr>
        <p:spPr>
          <a:xfrm>
            <a:off x="7565275" y="2440875"/>
            <a:ext cx="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0" name="Google Shape;720;p33"/>
          <p:cNvSpPr/>
          <p:nvPr/>
        </p:nvSpPr>
        <p:spPr>
          <a:xfrm>
            <a:off x="6403225" y="3647838"/>
            <a:ext cx="23241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Enviar trama por interfaz de salida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33"/>
          <p:cNvCxnSpPr>
            <a:stCxn id="719" idx="2"/>
            <a:endCxn id="720" idx="0"/>
          </p:cNvCxnSpPr>
          <p:nvPr/>
        </p:nvCxnSpPr>
        <p:spPr>
          <a:xfrm>
            <a:off x="7565275" y="3082913"/>
            <a:ext cx="0" cy="56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22" name="Google Shape;722;p33"/>
          <p:cNvGraphicFramePr/>
          <p:nvPr/>
        </p:nvGraphicFramePr>
        <p:xfrm>
          <a:off x="534275" y="423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139950"/>
                <a:gridCol w="1139950"/>
                <a:gridCol w="1139950"/>
                <a:gridCol w="1139950"/>
                <a:gridCol w="1139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R02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PC04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192.168.2.201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ICMP Request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cxnSp>
        <p:nvCxnSpPr>
          <p:cNvPr id="723" name="Google Shape;723;p33"/>
          <p:cNvCxnSpPr>
            <a:stCxn id="720" idx="2"/>
          </p:cNvCxnSpPr>
          <p:nvPr/>
        </p:nvCxnSpPr>
        <p:spPr>
          <a:xfrm rot="5400000">
            <a:off x="6676825" y="3498288"/>
            <a:ext cx="445200" cy="1331700"/>
          </a:xfrm>
          <a:prstGeom prst="bentConnector2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716" name="Google Shape;716;p33"/>
          <p:cNvSpPr/>
          <p:nvPr/>
        </p:nvSpPr>
        <p:spPr>
          <a:xfrm>
            <a:off x="7334425" y="1985475"/>
            <a:ext cx="461700" cy="455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3"/>
          <p:cNvSpPr txBox="1"/>
          <p:nvPr/>
        </p:nvSpPr>
        <p:spPr>
          <a:xfrm>
            <a:off x="6529813" y="2072913"/>
            <a:ext cx="80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∃ next hop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3"/>
          <p:cNvSpPr txBox="1"/>
          <p:nvPr/>
        </p:nvSpPr>
        <p:spPr>
          <a:xfrm>
            <a:off x="7565275" y="2440900"/>
            <a:ext cx="379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6" name="Google Shape;726;p33"/>
          <p:cNvCxnSpPr>
            <a:stCxn id="727" idx="2"/>
          </p:cNvCxnSpPr>
          <p:nvPr/>
        </p:nvCxnSpPr>
        <p:spPr>
          <a:xfrm>
            <a:off x="2251025" y="3858800"/>
            <a:ext cx="1500" cy="361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7" name="Google Shape;727;p33"/>
          <p:cNvSpPr txBox="1"/>
          <p:nvPr/>
        </p:nvSpPr>
        <p:spPr>
          <a:xfrm>
            <a:off x="96275" y="3565100"/>
            <a:ext cx="43095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ARP: MAC eth0 de PC04 ← Who has 192.168.2.202? Tell 192.168.2.1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28" name="Google Shape;728;p33"/>
          <p:cNvGraphicFramePr/>
          <p:nvPr/>
        </p:nvGraphicFramePr>
        <p:xfrm>
          <a:off x="273075" y="92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R02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29" name="Google Shape;729;p33"/>
          <p:cNvCxnSpPr/>
          <p:nvPr/>
        </p:nvCxnSpPr>
        <p:spPr>
          <a:xfrm flipH="1">
            <a:off x="3293400" y="2012650"/>
            <a:ext cx="339600" cy="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9" name="Google Shape;719;p33"/>
          <p:cNvSpPr/>
          <p:nvPr/>
        </p:nvSpPr>
        <p:spPr>
          <a:xfrm>
            <a:off x="6990925" y="2789213"/>
            <a:ext cx="1148700" cy="29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NH=IP destino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p33"/>
          <p:cNvCxnSpPr>
            <a:stCxn id="705" idx="3"/>
          </p:cNvCxnSpPr>
          <p:nvPr/>
        </p:nvCxnSpPr>
        <p:spPr>
          <a:xfrm flipH="1" rot="10800000">
            <a:off x="3108688" y="2162050"/>
            <a:ext cx="759600" cy="691200"/>
          </a:xfrm>
          <a:prstGeom prst="bentConnector3">
            <a:avLst>
              <a:gd fmla="val 98238" name="adj1"/>
            </a:avLst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36" name="Google Shape;736;p34"/>
          <p:cNvSpPr txBox="1"/>
          <p:nvPr/>
        </p:nvSpPr>
        <p:spPr>
          <a:xfrm>
            <a:off x="2051925" y="2964188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4"/>
          <p:cNvSpPr txBox="1"/>
          <p:nvPr/>
        </p:nvSpPr>
        <p:spPr>
          <a:xfrm>
            <a:off x="2887500" y="2964188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4"/>
          <p:cNvSpPr txBox="1"/>
          <p:nvPr/>
        </p:nvSpPr>
        <p:spPr>
          <a:xfrm>
            <a:off x="4452775" y="2964188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4"/>
          <p:cNvSpPr txBox="1"/>
          <p:nvPr/>
        </p:nvSpPr>
        <p:spPr>
          <a:xfrm>
            <a:off x="5156013" y="2964188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eth0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0" name="Google Shape;7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113" y="1783863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4"/>
          <p:cNvSpPr/>
          <p:nvPr/>
        </p:nvSpPr>
        <p:spPr>
          <a:xfrm>
            <a:off x="649725" y="2617888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2" name="Google Shape;742;p34"/>
          <p:cNvCxnSpPr>
            <a:stCxn id="740" idx="2"/>
            <a:endCxn id="741" idx="3"/>
          </p:cNvCxnSpPr>
          <p:nvPr/>
        </p:nvCxnSpPr>
        <p:spPr>
          <a:xfrm>
            <a:off x="1450763" y="2163163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3" name="Google Shape;743;p34"/>
          <p:cNvSpPr txBox="1"/>
          <p:nvPr/>
        </p:nvSpPr>
        <p:spPr>
          <a:xfrm>
            <a:off x="1450750" y="2163163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192.168.1.101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4"/>
          <p:cNvSpPr txBox="1"/>
          <p:nvPr/>
        </p:nvSpPr>
        <p:spPr>
          <a:xfrm>
            <a:off x="1113238" y="151960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5" name="Google Shape;7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075" y="2729813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6" name="Google Shape;746;p34"/>
          <p:cNvCxnSpPr>
            <a:endCxn id="745" idx="1"/>
          </p:cNvCxnSpPr>
          <p:nvPr/>
        </p:nvCxnSpPr>
        <p:spPr>
          <a:xfrm>
            <a:off x="2250475" y="2964188"/>
            <a:ext cx="40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7" name="Google Shape;7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9513" y="1801413"/>
            <a:ext cx="379300" cy="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34"/>
          <p:cNvSpPr/>
          <p:nvPr/>
        </p:nvSpPr>
        <p:spPr>
          <a:xfrm>
            <a:off x="5958125" y="2635438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p34"/>
          <p:cNvCxnSpPr>
            <a:stCxn id="747" idx="2"/>
            <a:endCxn id="748" idx="3"/>
          </p:cNvCxnSpPr>
          <p:nvPr/>
        </p:nvCxnSpPr>
        <p:spPr>
          <a:xfrm>
            <a:off x="6759163" y="2180713"/>
            <a:ext cx="0" cy="49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0" name="Google Shape;750;p34"/>
          <p:cNvSpPr txBox="1"/>
          <p:nvPr/>
        </p:nvSpPr>
        <p:spPr>
          <a:xfrm>
            <a:off x="6759150" y="2180713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192.168.2.201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4"/>
          <p:cNvSpPr txBox="1"/>
          <p:nvPr/>
        </p:nvSpPr>
        <p:spPr>
          <a:xfrm>
            <a:off x="6421638" y="1537150"/>
            <a:ext cx="5808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PC04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2" name="Google Shape;75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1950" y="2747363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3" name="Google Shape;753;p34"/>
          <p:cNvCxnSpPr>
            <a:stCxn id="752" idx="3"/>
            <a:endCxn id="748" idx="2"/>
          </p:cNvCxnSpPr>
          <p:nvPr/>
        </p:nvCxnSpPr>
        <p:spPr>
          <a:xfrm>
            <a:off x="5410700" y="2981738"/>
            <a:ext cx="552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34"/>
          <p:cNvCxnSpPr>
            <a:endCxn id="752" idx="1"/>
          </p:cNvCxnSpPr>
          <p:nvPr/>
        </p:nvCxnSpPr>
        <p:spPr>
          <a:xfrm>
            <a:off x="3098750" y="2964038"/>
            <a:ext cx="1843200" cy="1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5" name="Google Shape;755;p34"/>
          <p:cNvSpPr txBox="1"/>
          <p:nvPr/>
        </p:nvSpPr>
        <p:spPr>
          <a:xfrm>
            <a:off x="3496938" y="2675113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4"/>
          <p:cNvSpPr txBox="1"/>
          <p:nvPr/>
        </p:nvSpPr>
        <p:spPr>
          <a:xfrm>
            <a:off x="2688925" y="2498388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4"/>
          <p:cNvSpPr txBox="1"/>
          <p:nvPr/>
        </p:nvSpPr>
        <p:spPr>
          <a:xfrm>
            <a:off x="4927025" y="2498375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58" name="Google Shape;758;p34"/>
          <p:cNvGraphicFramePr/>
          <p:nvPr/>
        </p:nvGraphicFramePr>
        <p:xfrm>
          <a:off x="5512475" y="32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PC04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0.0.0.0/0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59" name="Google Shape;759;p34"/>
          <p:cNvCxnSpPr/>
          <p:nvPr/>
        </p:nvCxnSpPr>
        <p:spPr>
          <a:xfrm>
            <a:off x="5147563" y="1395800"/>
            <a:ext cx="339600" cy="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0" name="Google Shape;760;p34"/>
          <p:cNvCxnSpPr>
            <a:stCxn id="750" idx="2"/>
            <a:endCxn id="739" idx="3"/>
          </p:cNvCxnSpPr>
          <p:nvPr/>
        </p:nvCxnSpPr>
        <p:spPr>
          <a:xfrm rot="5400000">
            <a:off x="6205650" y="2166613"/>
            <a:ext cx="679500" cy="1295100"/>
          </a:xfrm>
          <a:prstGeom prst="bentConnector2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61" name="Google Shape;761;p34"/>
          <p:cNvGraphicFramePr/>
          <p:nvPr/>
        </p:nvGraphicFramePr>
        <p:xfrm>
          <a:off x="1324863" y="354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139950"/>
                <a:gridCol w="1139950"/>
                <a:gridCol w="1139950"/>
                <a:gridCol w="1139950"/>
                <a:gridCol w="1139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PC04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R02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192.168.2.201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ICMP Reply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2" name="Google Shape;762;p34"/>
          <p:cNvGraphicFramePr/>
          <p:nvPr/>
        </p:nvGraphicFramePr>
        <p:xfrm>
          <a:off x="2031938" y="63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97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R02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63" name="Google Shape;763;p34"/>
          <p:cNvCxnSpPr/>
          <p:nvPr/>
        </p:nvCxnSpPr>
        <p:spPr>
          <a:xfrm>
            <a:off x="1692338" y="1700600"/>
            <a:ext cx="339600" cy="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64" name="Google Shape;764;p34"/>
          <p:cNvGraphicFramePr/>
          <p:nvPr/>
        </p:nvGraphicFramePr>
        <p:xfrm>
          <a:off x="1324863" y="398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139950"/>
                <a:gridCol w="1139950"/>
                <a:gridCol w="1139950"/>
                <a:gridCol w="1139950"/>
                <a:gridCol w="1139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eth1 R02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eth1 R01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192.168.2.201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ICMP Reply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5" name="Google Shape;765;p34"/>
          <p:cNvGraphicFramePr/>
          <p:nvPr/>
        </p:nvGraphicFramePr>
        <p:xfrm>
          <a:off x="1324863" y="443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1139950"/>
                <a:gridCol w="1139950"/>
                <a:gridCol w="1139950"/>
                <a:gridCol w="1139950"/>
                <a:gridCol w="1139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R01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MAC eth0 PC01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192.168.2.201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192.168.1.101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ICMP Reply</a:t>
                      </a:r>
                      <a:endParaRPr b="1" sz="1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</a:tbl>
          </a:graphicData>
        </a:graphic>
      </p:graphicFrame>
      <p:cxnSp>
        <p:nvCxnSpPr>
          <p:cNvPr id="766" name="Google Shape;766;p34"/>
          <p:cNvCxnSpPr>
            <a:stCxn id="738" idx="1"/>
            <a:endCxn id="737" idx="3"/>
          </p:cNvCxnSpPr>
          <p:nvPr/>
        </p:nvCxnSpPr>
        <p:spPr>
          <a:xfrm rot="10800000">
            <a:off x="3629275" y="3153788"/>
            <a:ext cx="823500" cy="0"/>
          </a:xfrm>
          <a:prstGeom prst="straightConnector1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7" name="Google Shape;767;p34"/>
          <p:cNvCxnSpPr>
            <a:stCxn id="736" idx="0"/>
            <a:endCxn id="743" idx="2"/>
          </p:cNvCxnSpPr>
          <p:nvPr/>
        </p:nvCxnSpPr>
        <p:spPr>
          <a:xfrm flipH="1" rot="5400000">
            <a:off x="1900125" y="2441438"/>
            <a:ext cx="507300" cy="538200"/>
          </a:xfrm>
          <a:prstGeom prst="bentConnector3">
            <a:avLst>
              <a:gd fmla="val 31451" name="adj1"/>
            </a:avLst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5"/>
          <p:cNvSpPr txBox="1"/>
          <p:nvPr/>
        </p:nvSpPr>
        <p:spPr>
          <a:xfrm>
            <a:off x="3350350" y="14135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5"/>
          <p:cNvSpPr txBox="1"/>
          <p:nvPr/>
        </p:nvSpPr>
        <p:spPr>
          <a:xfrm>
            <a:off x="4915625" y="14135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5"/>
          <p:cNvSpPr/>
          <p:nvPr/>
        </p:nvSpPr>
        <p:spPr>
          <a:xfrm>
            <a:off x="1112575" y="10672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5" name="Google Shape;77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8925" y="1179125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6" name="Google Shape;776;p35"/>
          <p:cNvCxnSpPr>
            <a:endCxn id="775" idx="1"/>
          </p:cNvCxnSpPr>
          <p:nvPr/>
        </p:nvCxnSpPr>
        <p:spPr>
          <a:xfrm>
            <a:off x="2713325" y="1413500"/>
            <a:ext cx="40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7" name="Google Shape;777;p35"/>
          <p:cNvSpPr/>
          <p:nvPr/>
        </p:nvSpPr>
        <p:spPr>
          <a:xfrm>
            <a:off x="6725775" y="62755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8" name="Google Shape;7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4800" y="1196675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9" name="Google Shape;779;p35"/>
          <p:cNvCxnSpPr>
            <a:stCxn id="778" idx="3"/>
            <a:endCxn id="777" idx="2"/>
          </p:cNvCxnSpPr>
          <p:nvPr/>
        </p:nvCxnSpPr>
        <p:spPr>
          <a:xfrm flipH="1" rot="10800000">
            <a:off x="5873550" y="973850"/>
            <a:ext cx="857100" cy="45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35"/>
          <p:cNvCxnSpPr>
            <a:endCxn id="778" idx="1"/>
          </p:cNvCxnSpPr>
          <p:nvPr/>
        </p:nvCxnSpPr>
        <p:spPr>
          <a:xfrm>
            <a:off x="3561600" y="1413350"/>
            <a:ext cx="1843200" cy="1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1" name="Google Shape;781;p35"/>
          <p:cNvSpPr txBox="1"/>
          <p:nvPr/>
        </p:nvSpPr>
        <p:spPr>
          <a:xfrm>
            <a:off x="3959788" y="11244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5"/>
          <p:cNvSpPr txBox="1"/>
          <p:nvPr/>
        </p:nvSpPr>
        <p:spPr>
          <a:xfrm>
            <a:off x="3151775" y="947700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5"/>
          <p:cNvSpPr txBox="1"/>
          <p:nvPr/>
        </p:nvSpPr>
        <p:spPr>
          <a:xfrm>
            <a:off x="5389875" y="947688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85" name="Google Shape;785;p35"/>
          <p:cNvSpPr/>
          <p:nvPr/>
        </p:nvSpPr>
        <p:spPr>
          <a:xfrm>
            <a:off x="6725775" y="1788925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192.168.3.0/24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6" name="Google Shape;786;p35"/>
          <p:cNvCxnSpPr>
            <a:stCxn id="778" idx="3"/>
            <a:endCxn id="785" idx="2"/>
          </p:cNvCxnSpPr>
          <p:nvPr/>
        </p:nvCxnSpPr>
        <p:spPr>
          <a:xfrm>
            <a:off x="5873550" y="1431050"/>
            <a:ext cx="857100" cy="70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7" name="Google Shape;787;p35"/>
          <p:cNvSpPr txBox="1"/>
          <p:nvPr/>
        </p:nvSpPr>
        <p:spPr>
          <a:xfrm>
            <a:off x="1209200" y="2445375"/>
            <a:ext cx="1408800" cy="4686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hay ruta a la red 192.168.3.0/24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88" name="Google Shape;788;p35"/>
          <p:cNvGraphicFramePr/>
          <p:nvPr/>
        </p:nvGraphicFramePr>
        <p:xfrm>
          <a:off x="422725" y="2981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31227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1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10.0.0.2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eth1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9" name="Google Shape;789;p35"/>
          <p:cNvGraphicFramePr/>
          <p:nvPr/>
        </p:nvGraphicFramePr>
        <p:xfrm>
          <a:off x="4811213" y="284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277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7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10.0.0.2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eth1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192.168.3.0/24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10.0.0.2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eth1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0" name="Google Shape;790;p35"/>
          <p:cNvSpPr txBox="1"/>
          <p:nvPr/>
        </p:nvSpPr>
        <p:spPr>
          <a:xfrm>
            <a:off x="4800600" y="2261250"/>
            <a:ext cx="1773600" cy="4686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OPCIÓN 1: Añadir ruta a la red 192.168.3.0/24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5"/>
          <p:cNvSpPr/>
          <p:nvPr/>
        </p:nvSpPr>
        <p:spPr>
          <a:xfrm>
            <a:off x="3600113" y="3675400"/>
            <a:ext cx="10155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5"/>
          <p:cNvSpPr/>
          <p:nvPr/>
        </p:nvSpPr>
        <p:spPr>
          <a:xfrm>
            <a:off x="4372600" y="4040350"/>
            <a:ext cx="3750000" cy="642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6"/>
          <p:cNvSpPr txBox="1"/>
          <p:nvPr/>
        </p:nvSpPr>
        <p:spPr>
          <a:xfrm>
            <a:off x="3350350" y="14135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6"/>
          <p:cNvSpPr txBox="1"/>
          <p:nvPr/>
        </p:nvSpPr>
        <p:spPr>
          <a:xfrm>
            <a:off x="4915625" y="1413500"/>
            <a:ext cx="741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6"/>
          <p:cNvSpPr/>
          <p:nvPr/>
        </p:nvSpPr>
        <p:spPr>
          <a:xfrm>
            <a:off x="1112575" y="106720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0" name="Google Shape;8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8925" y="1179125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1" name="Google Shape;801;p36"/>
          <p:cNvCxnSpPr>
            <a:endCxn id="800" idx="1"/>
          </p:cNvCxnSpPr>
          <p:nvPr/>
        </p:nvCxnSpPr>
        <p:spPr>
          <a:xfrm>
            <a:off x="2713325" y="1413500"/>
            <a:ext cx="40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2" name="Google Shape;802;p36"/>
          <p:cNvSpPr/>
          <p:nvPr/>
        </p:nvSpPr>
        <p:spPr>
          <a:xfrm>
            <a:off x="6725775" y="627550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3" name="Google Shape;8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4800" y="1196675"/>
            <a:ext cx="468750" cy="46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4" name="Google Shape;804;p36"/>
          <p:cNvCxnSpPr>
            <a:stCxn id="803" idx="3"/>
            <a:endCxn id="802" idx="2"/>
          </p:cNvCxnSpPr>
          <p:nvPr/>
        </p:nvCxnSpPr>
        <p:spPr>
          <a:xfrm flipH="1" rot="10800000">
            <a:off x="5873550" y="973850"/>
            <a:ext cx="857100" cy="45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5" name="Google Shape;805;p36"/>
          <p:cNvCxnSpPr>
            <a:endCxn id="803" idx="1"/>
          </p:cNvCxnSpPr>
          <p:nvPr/>
        </p:nvCxnSpPr>
        <p:spPr>
          <a:xfrm>
            <a:off x="3561600" y="1413350"/>
            <a:ext cx="1843200" cy="1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6" name="Google Shape;806;p36"/>
          <p:cNvSpPr txBox="1"/>
          <p:nvPr/>
        </p:nvSpPr>
        <p:spPr>
          <a:xfrm>
            <a:off x="3959788" y="1124425"/>
            <a:ext cx="867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10.0.0.0/24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6"/>
          <p:cNvSpPr txBox="1"/>
          <p:nvPr/>
        </p:nvSpPr>
        <p:spPr>
          <a:xfrm>
            <a:off x="3151775" y="947700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6"/>
          <p:cNvSpPr txBox="1"/>
          <p:nvPr/>
        </p:nvSpPr>
        <p:spPr>
          <a:xfrm>
            <a:off x="5389875" y="947688"/>
            <a:ext cx="468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10" name="Google Shape;810;p36"/>
          <p:cNvSpPr/>
          <p:nvPr/>
        </p:nvSpPr>
        <p:spPr>
          <a:xfrm>
            <a:off x="6725775" y="1788925"/>
            <a:ext cx="1602072" cy="69260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192.168.3.0/24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1" name="Google Shape;811;p36"/>
          <p:cNvCxnSpPr>
            <a:stCxn id="803" idx="3"/>
            <a:endCxn id="810" idx="2"/>
          </p:cNvCxnSpPr>
          <p:nvPr/>
        </p:nvCxnSpPr>
        <p:spPr>
          <a:xfrm>
            <a:off x="5873550" y="1431050"/>
            <a:ext cx="857100" cy="70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2" name="Google Shape;812;p36"/>
          <p:cNvSpPr txBox="1"/>
          <p:nvPr/>
        </p:nvSpPr>
        <p:spPr>
          <a:xfrm>
            <a:off x="1209200" y="2445375"/>
            <a:ext cx="1408800" cy="4686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hay ruta a la red 192.168.3.0/24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3" name="Google Shape;813;p36"/>
          <p:cNvGraphicFramePr/>
          <p:nvPr/>
        </p:nvGraphicFramePr>
        <p:xfrm>
          <a:off x="422725" y="2981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31227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1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10.0.0.2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eth1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4" name="Google Shape;814;p36"/>
          <p:cNvGraphicFramePr/>
          <p:nvPr/>
        </p:nvGraphicFramePr>
        <p:xfrm>
          <a:off x="4811238" y="2995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{A5652CA5-D815-42F2-AC9B-92871D9323E6}</a:tableStyleId>
              </a:tblPr>
              <a:tblGrid>
                <a:gridCol w="883600"/>
                <a:gridCol w="798750"/>
                <a:gridCol w="1299425"/>
              </a:tblGrid>
              <a:tr h="277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TABLA DE ENCAMINAMIENTO R01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7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PREFIJO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NEXT HOP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/>
                        <a:t>INTERFAZ DE SALIDA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eth1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192.168.1.0/24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0.0.0.0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eth0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192.168.2.0/23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/>
                        <a:t>10.0.0.2</a:t>
                      </a:r>
                      <a:endParaRPr sz="8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chemeClr val="dk1"/>
                          </a:solidFill>
                        </a:rPr>
                        <a:t>eth1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5" name="Google Shape;815;p36"/>
          <p:cNvSpPr txBox="1"/>
          <p:nvPr/>
        </p:nvSpPr>
        <p:spPr>
          <a:xfrm>
            <a:off x="4430250" y="2135150"/>
            <a:ext cx="2135400" cy="783600"/>
          </a:xfrm>
          <a:prstGeom prst="rect">
            <a:avLst/>
          </a:prstGeom>
          <a:solidFill>
            <a:srgbClr val="4A86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OPCIÓN 2: Agregación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192.168.2.0/24 y 192.168.3.0/24 son subredes de 192.168.2.0/23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R01 llega con el mismo NH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36"/>
          <p:cNvSpPr/>
          <p:nvPr/>
        </p:nvSpPr>
        <p:spPr>
          <a:xfrm>
            <a:off x="3600113" y="3675400"/>
            <a:ext cx="10155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22" name="Google Shape;822;p37"/>
          <p:cNvSpPr txBox="1"/>
          <p:nvPr/>
        </p:nvSpPr>
        <p:spPr>
          <a:xfrm>
            <a:off x="1922900" y="2769325"/>
            <a:ext cx="1203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192.168.3.0/24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7"/>
          <p:cNvSpPr txBox="1"/>
          <p:nvPr/>
        </p:nvSpPr>
        <p:spPr>
          <a:xfrm>
            <a:off x="1922900" y="2211825"/>
            <a:ext cx="1203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7"/>
          <p:cNvSpPr txBox="1"/>
          <p:nvPr/>
        </p:nvSpPr>
        <p:spPr>
          <a:xfrm>
            <a:off x="3653325" y="1122675"/>
            <a:ext cx="1203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192.168.0.0/23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7"/>
          <p:cNvSpPr txBox="1"/>
          <p:nvPr/>
        </p:nvSpPr>
        <p:spPr>
          <a:xfrm>
            <a:off x="1922900" y="1508450"/>
            <a:ext cx="1203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7"/>
          <p:cNvSpPr txBox="1"/>
          <p:nvPr/>
        </p:nvSpPr>
        <p:spPr>
          <a:xfrm>
            <a:off x="1922900" y="814875"/>
            <a:ext cx="1203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192.168.0.0/24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7" name="Google Shape;827;p37"/>
          <p:cNvCxnSpPr>
            <a:stCxn id="824" idx="1"/>
            <a:endCxn id="826" idx="3"/>
          </p:cNvCxnSpPr>
          <p:nvPr/>
        </p:nvCxnSpPr>
        <p:spPr>
          <a:xfrm rot="10800000">
            <a:off x="3126225" y="968775"/>
            <a:ext cx="527100" cy="3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8" name="Google Shape;828;p37"/>
          <p:cNvCxnSpPr>
            <a:stCxn id="824" idx="1"/>
            <a:endCxn id="825" idx="3"/>
          </p:cNvCxnSpPr>
          <p:nvPr/>
        </p:nvCxnSpPr>
        <p:spPr>
          <a:xfrm flipH="1">
            <a:off x="3126225" y="1276575"/>
            <a:ext cx="527100" cy="3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9" name="Google Shape;829;p37"/>
          <p:cNvSpPr txBox="1"/>
          <p:nvPr/>
        </p:nvSpPr>
        <p:spPr>
          <a:xfrm>
            <a:off x="3723950" y="2417850"/>
            <a:ext cx="1203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192.168.2.0/23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0" name="Google Shape;830;p37"/>
          <p:cNvCxnSpPr>
            <a:stCxn id="829" idx="1"/>
            <a:endCxn id="823" idx="3"/>
          </p:cNvCxnSpPr>
          <p:nvPr/>
        </p:nvCxnSpPr>
        <p:spPr>
          <a:xfrm rot="10800000">
            <a:off x="3126350" y="2365650"/>
            <a:ext cx="597600" cy="2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1" name="Google Shape;831;p37"/>
          <p:cNvCxnSpPr>
            <a:stCxn id="829" idx="1"/>
            <a:endCxn id="822" idx="3"/>
          </p:cNvCxnSpPr>
          <p:nvPr/>
        </p:nvCxnSpPr>
        <p:spPr>
          <a:xfrm flipH="1">
            <a:off x="3126350" y="2571750"/>
            <a:ext cx="597600" cy="3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2" name="Google Shape;832;p37"/>
          <p:cNvSpPr txBox="1"/>
          <p:nvPr/>
        </p:nvSpPr>
        <p:spPr>
          <a:xfrm>
            <a:off x="5856325" y="1704250"/>
            <a:ext cx="1203300" cy="30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192.168.0.0/22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p37"/>
          <p:cNvCxnSpPr>
            <a:stCxn id="832" idx="1"/>
            <a:endCxn id="824" idx="3"/>
          </p:cNvCxnSpPr>
          <p:nvPr/>
        </p:nvCxnSpPr>
        <p:spPr>
          <a:xfrm rot="10800000">
            <a:off x="4856725" y="1276450"/>
            <a:ext cx="999600" cy="58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4" name="Google Shape;834;p37"/>
          <p:cNvCxnSpPr>
            <a:stCxn id="832" idx="1"/>
            <a:endCxn id="829" idx="3"/>
          </p:cNvCxnSpPr>
          <p:nvPr/>
        </p:nvCxnSpPr>
        <p:spPr>
          <a:xfrm flipH="1">
            <a:off x="4927225" y="1858150"/>
            <a:ext cx="929100" cy="7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
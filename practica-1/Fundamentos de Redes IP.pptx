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"/>
              <a:t>Fundamentos de Redes IP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4"/>
          <p:cNvCxnSpPr/>
          <p:nvPr/>
        </p:nvCxnSpPr>
        <p:spPr>
          <a:xfrm flipH="1" rot="10800000">
            <a:off x="2497650" y="2564250"/>
            <a:ext cx="4187400" cy="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¿Qué es una red?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Sistema de dispositivos interconectados que se comunican utilizando una serie de protocolos de comunicaciones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9175" y="2177325"/>
            <a:ext cx="788850" cy="78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5950" y="2177325"/>
            <a:ext cx="788850" cy="78885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¿Qué es una red?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Expandir el número de dispositivos conectados → Switches</a:t>
            </a:r>
            <a:endParaRPr/>
          </a:p>
        </p:txBody>
      </p:sp>
      <p:cxnSp>
        <p:nvCxnSpPr>
          <p:cNvPr id="72" name="Google Shape;72;p15"/>
          <p:cNvCxnSpPr/>
          <p:nvPr/>
        </p:nvCxnSpPr>
        <p:spPr>
          <a:xfrm rot="10800000">
            <a:off x="3487525" y="2075300"/>
            <a:ext cx="14700" cy="7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5"/>
          <p:cNvCxnSpPr/>
          <p:nvPr/>
        </p:nvCxnSpPr>
        <p:spPr>
          <a:xfrm rot="10800000">
            <a:off x="5511650" y="3124475"/>
            <a:ext cx="14700" cy="7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5"/>
          <p:cNvCxnSpPr/>
          <p:nvPr/>
        </p:nvCxnSpPr>
        <p:spPr>
          <a:xfrm rot="10800000">
            <a:off x="3461925" y="3124475"/>
            <a:ext cx="14700" cy="79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5"/>
          <p:cNvCxnSpPr/>
          <p:nvPr/>
        </p:nvCxnSpPr>
        <p:spPr>
          <a:xfrm flipH="1" rot="10800000">
            <a:off x="2280300" y="3024575"/>
            <a:ext cx="951000" cy="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5"/>
          <p:cNvCxnSpPr>
            <a:stCxn id="77" idx="1"/>
          </p:cNvCxnSpPr>
          <p:nvPr/>
        </p:nvCxnSpPr>
        <p:spPr>
          <a:xfrm flipH="1" rot="10800000">
            <a:off x="5152550" y="3016325"/>
            <a:ext cx="1722000" cy="1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5"/>
          <p:cNvCxnSpPr/>
          <p:nvPr/>
        </p:nvCxnSpPr>
        <p:spPr>
          <a:xfrm flipH="1" rot="10800000">
            <a:off x="3502225" y="3031325"/>
            <a:ext cx="1934400" cy="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2825" y="2660675"/>
            <a:ext cx="732900" cy="7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2550" y="2660675"/>
            <a:ext cx="732900" cy="7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6525" y="2789150"/>
            <a:ext cx="475950" cy="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1300" y="1852075"/>
            <a:ext cx="475950" cy="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1300" y="3726225"/>
            <a:ext cx="475950" cy="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1525" y="2789150"/>
            <a:ext cx="475950" cy="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1025" y="3726225"/>
            <a:ext cx="475950" cy="4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4203500" y="1972613"/>
            <a:ext cx="2631000" cy="5115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Todos los dispositivos están en la misma red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 flipH="1" rot="10800000">
            <a:off x="2193775" y="3394325"/>
            <a:ext cx="933900" cy="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" name="Google Shape;88;p15"/>
          <p:cNvSpPr txBox="1"/>
          <p:nvPr/>
        </p:nvSpPr>
        <p:spPr>
          <a:xfrm>
            <a:off x="2101450" y="2484125"/>
            <a:ext cx="32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6716450" y="3171725"/>
            <a:ext cx="326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5"/>
          <p:cNvCxnSpPr/>
          <p:nvPr/>
        </p:nvCxnSpPr>
        <p:spPr>
          <a:xfrm flipH="1" rot="10800000">
            <a:off x="4105050" y="2868200"/>
            <a:ext cx="933900" cy="75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" name="Google Shape;91;p15"/>
          <p:cNvCxnSpPr/>
          <p:nvPr/>
        </p:nvCxnSpPr>
        <p:spPr>
          <a:xfrm>
            <a:off x="5951350" y="2779275"/>
            <a:ext cx="644700" cy="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" name="Google Shape;96;p16"/>
          <p:cNvCxnSpPr>
            <a:stCxn id="97" idx="3"/>
          </p:cNvCxnSpPr>
          <p:nvPr/>
        </p:nvCxnSpPr>
        <p:spPr>
          <a:xfrm rot="10800000">
            <a:off x="6470097" y="985859"/>
            <a:ext cx="15600" cy="5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6"/>
          <p:cNvSpPr txBox="1"/>
          <p:nvPr>
            <p:ph type="title"/>
          </p:nvPr>
        </p:nvSpPr>
        <p:spPr>
          <a:xfrm>
            <a:off x="311700" y="445025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Modelo TCP/IP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Describe líneas generales para el diseño y la implementación de protocolos de red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/>
              <a:t>Define cuatro capas: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s"/>
              <a:t>Acceso → protocolos y hardware para la transmisión de datos en un medio físico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s"/>
              <a:t>Red → protocolos para la transmisión de información de un extremo a otro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s"/>
              <a:t>Transporte → protocolos para la transmisión de información entre procesos remotos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s"/>
              <a:t>Aplicación → protocolos para la implementación de servicios</a:t>
            </a:r>
            <a:endParaRPr/>
          </a:p>
        </p:txBody>
      </p:sp>
      <p:cxnSp>
        <p:nvCxnSpPr>
          <p:cNvPr id="100" name="Google Shape;100;p16"/>
          <p:cNvCxnSpPr>
            <a:stCxn id="97" idx="1"/>
            <a:endCxn id="101" idx="3"/>
          </p:cNvCxnSpPr>
          <p:nvPr/>
        </p:nvCxnSpPr>
        <p:spPr>
          <a:xfrm>
            <a:off x="6485697" y="1913071"/>
            <a:ext cx="0" cy="1535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7725" y="798725"/>
            <a:ext cx="475950" cy="4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5691950" y="2236150"/>
            <a:ext cx="1682424" cy="867132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6289350" y="505325"/>
            <a:ext cx="392700" cy="2076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336825" y="4625275"/>
            <a:ext cx="392700" cy="2076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5954175" y="1521125"/>
            <a:ext cx="1063044" cy="39236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954175" y="3425913"/>
            <a:ext cx="1063044" cy="392364"/>
          </a:xfrm>
          <a:prstGeom prst="clou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6"/>
          <p:cNvCxnSpPr/>
          <p:nvPr/>
        </p:nvCxnSpPr>
        <p:spPr>
          <a:xfrm rot="10800000">
            <a:off x="6525360" y="3818284"/>
            <a:ext cx="15600" cy="55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5188" y="4112325"/>
            <a:ext cx="475950" cy="475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6"/>
          <p:cNvCxnSpPr>
            <a:stCxn id="102" idx="3"/>
            <a:endCxn id="107" idx="3"/>
          </p:cNvCxnSpPr>
          <p:nvPr/>
        </p:nvCxnSpPr>
        <p:spPr>
          <a:xfrm>
            <a:off x="6723675" y="1036700"/>
            <a:ext cx="47400" cy="3313500"/>
          </a:xfrm>
          <a:prstGeom prst="bentConnector3">
            <a:avLst>
              <a:gd fmla="val 1841772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>
            <a:stCxn id="104" idx="6"/>
            <a:endCxn id="105" idx="6"/>
          </p:cNvCxnSpPr>
          <p:nvPr/>
        </p:nvCxnSpPr>
        <p:spPr>
          <a:xfrm>
            <a:off x="6682050" y="609125"/>
            <a:ext cx="47400" cy="4119900"/>
          </a:xfrm>
          <a:prstGeom prst="bentConnector3">
            <a:avLst>
              <a:gd fmla="val 2898998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6"/>
          <p:cNvSpPr/>
          <p:nvPr/>
        </p:nvSpPr>
        <p:spPr>
          <a:xfrm>
            <a:off x="4572000" y="446975"/>
            <a:ext cx="1008000" cy="32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4572000" y="4566925"/>
            <a:ext cx="1008000" cy="32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16"/>
          <p:cNvCxnSpPr>
            <a:stCxn id="110" idx="3"/>
            <a:endCxn id="104" idx="2"/>
          </p:cNvCxnSpPr>
          <p:nvPr/>
        </p:nvCxnSpPr>
        <p:spPr>
          <a:xfrm>
            <a:off x="5580000" y="609125"/>
            <a:ext cx="70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>
            <a:stCxn id="111" idx="3"/>
            <a:endCxn id="105" idx="2"/>
          </p:cNvCxnSpPr>
          <p:nvPr/>
        </p:nvCxnSpPr>
        <p:spPr>
          <a:xfrm>
            <a:off x="5580000" y="4729075"/>
            <a:ext cx="75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4" name="Google Shape;114;p16"/>
          <p:cNvCxnSpPr>
            <a:stCxn id="110" idx="2"/>
            <a:endCxn id="111" idx="0"/>
          </p:cNvCxnSpPr>
          <p:nvPr/>
        </p:nvCxnSpPr>
        <p:spPr>
          <a:xfrm>
            <a:off x="5076000" y="771275"/>
            <a:ext cx="0" cy="379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Encapsulado</a:t>
            </a:r>
            <a:endParaRPr/>
          </a:p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5945575" y="1207425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APLICACIÓN/SERVICIO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5945575" y="1819325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APLICACIÓN/SERVICIO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3729475" y="1819325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945575" y="2437000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APLICACIÓN/SERVICIO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729475" y="2437000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610450" y="2437000"/>
            <a:ext cx="11190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5945575" y="3069075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APLICACIÓN/SERVICIO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729475" y="3069075"/>
            <a:ext cx="22161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2610450" y="3069075"/>
            <a:ext cx="11190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1491425" y="3069075"/>
            <a:ext cx="1119000" cy="49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17"/>
          <p:cNvCxnSpPr>
            <a:stCxn id="133" idx="0"/>
            <a:endCxn id="131" idx="2"/>
          </p:cNvCxnSpPr>
          <p:nvPr/>
        </p:nvCxnSpPr>
        <p:spPr>
          <a:xfrm rot="10800000">
            <a:off x="2050925" y="3565525"/>
            <a:ext cx="6000" cy="59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17"/>
          <p:cNvSpPr txBox="1"/>
          <p:nvPr/>
        </p:nvSpPr>
        <p:spPr>
          <a:xfrm>
            <a:off x="982325" y="4165225"/>
            <a:ext cx="21492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Ethernet (IEEE 802.3x)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954100" y="4165225"/>
            <a:ext cx="4317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17"/>
          <p:cNvCxnSpPr>
            <a:stCxn id="134" idx="0"/>
            <a:endCxn id="130" idx="2"/>
          </p:cNvCxnSpPr>
          <p:nvPr/>
        </p:nvCxnSpPr>
        <p:spPr>
          <a:xfrm rot="10800000">
            <a:off x="3169950" y="3565525"/>
            <a:ext cx="0" cy="59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" name="Google Shape;136;p17"/>
          <p:cNvSpPr txBox="1"/>
          <p:nvPr/>
        </p:nvSpPr>
        <p:spPr>
          <a:xfrm>
            <a:off x="4350625" y="4165225"/>
            <a:ext cx="9738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TCP/UDP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17"/>
          <p:cNvCxnSpPr>
            <a:stCxn id="136" idx="0"/>
          </p:cNvCxnSpPr>
          <p:nvPr/>
        </p:nvCxnSpPr>
        <p:spPr>
          <a:xfrm rot="10800000">
            <a:off x="4837525" y="3565525"/>
            <a:ext cx="0" cy="59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Direcciones MAC e IP</a:t>
            </a:r>
            <a:endParaRPr/>
          </a:p>
        </p:txBody>
      </p:sp>
      <p:sp>
        <p:nvSpPr>
          <p:cNvPr id="143" name="Google Shape;1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Direcciones MAC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48 bits (6 bytes)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hardware → Almacenada en el firmware de la tarjeta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Los 3 primeros bytes corresponden al OUI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Los 3 últimos los asigna de modo único el fabricante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Direcciones IP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32 bits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 primeros → Identificador de red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Los restantes → Identificador de host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Notación dotted quad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se agrupan los 32 bits en 4 grupos de 8 bits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s"/>
              <a:t>notación decimal de cada uno de los grupos separados por puntos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 configuran mediante software en la interfaz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Prefijos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Denotan un conjunto de direcciones IP que tienen los primeros L bits en común (el mismo identificador de red)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Consta del prefijo y la longitud expresados como PREFIJO/LONGITUD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tamaño de ese conjunto es 2</a:t>
            </a:r>
            <a:r>
              <a:rPr baseline="30000" lang="es"/>
              <a:t>(32-L)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Ejemplos: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147.83.115.0/24 → 256 direcciones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10.0.1.0/27 → 32 direcciones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Las redes IP se denotan con un prefijo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En una red IP no se pueden asignar ni la primera (dirección de red) ni la última (dirección de broadcast) dirección contenida en el prefijo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Número de direcciones asignables → </a:t>
            </a:r>
            <a:r>
              <a:rPr lang="es" sz="1800"/>
              <a:t>2</a:t>
            </a:r>
            <a:r>
              <a:rPr baseline="30000" lang="es" sz="1800"/>
              <a:t>(32-L)</a:t>
            </a:r>
            <a:r>
              <a:rPr lang="es" sz="1800"/>
              <a:t>-2</a:t>
            </a:r>
            <a:endParaRPr/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5270725" y="2498800"/>
            <a:ext cx="3267300" cy="9549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red IP se expresa como un prefijo pero un prefijo no necesariamente corresponde a una red IP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Comunicaciones IP en la misma red</a:t>
            </a:r>
            <a:endParaRPr/>
          </a:p>
        </p:txBody>
      </p:sp>
      <p:sp>
        <p:nvSpPr>
          <p:cNvPr id="158" name="Google Shape;15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 dispositivo construye un paquete con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IP origen igual a la que tiene en la interfaz conectada a la red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dirección IP destino igual a la que tiene el destino en la interfaz conectada a la red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Al entramarse en nivel 2 se necesita saber cuál es la MAC de la interfaz destino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Protocolo ARP: Averiguar cuál es la MAC de la interfaz donde se ha configurado la IP destino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Se mantiene una caché ARP que almacena el par (IP, MAC)</a:t>
            </a:r>
            <a:endParaRPr/>
          </a:p>
        </p:txBody>
      </p:sp>
      <p:sp>
        <p:nvSpPr>
          <p:cNvPr id="159" name="Google Shape;15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